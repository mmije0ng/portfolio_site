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60" r:id="rId3"/>
    <p:sldId id="262" r:id="rId4"/>
    <p:sldId id="583" r:id="rId5"/>
    <p:sldId id="651" r:id="rId6"/>
    <p:sldId id="654" r:id="rId7"/>
    <p:sldId id="662" r:id="rId8"/>
    <p:sldId id="628" r:id="rId9"/>
    <p:sldId id="619" r:id="rId10"/>
    <p:sldId id="621" r:id="rId11"/>
    <p:sldId id="661" r:id="rId12"/>
    <p:sldId id="643" r:id="rId13"/>
    <p:sldId id="633" r:id="rId14"/>
    <p:sldId id="634" r:id="rId15"/>
    <p:sldId id="656" r:id="rId16"/>
    <p:sldId id="655" r:id="rId17"/>
    <p:sldId id="658" r:id="rId18"/>
    <p:sldId id="659" r:id="rId19"/>
    <p:sldId id="645" r:id="rId20"/>
  </p:sldIdLst>
  <p:sldSz cx="12192000" cy="6858000"/>
  <p:notesSz cx="6742113" cy="9875838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5B18864-EA0D-3B41-A14C-A058979E8C60}">
          <p14:sldIdLst>
            <p14:sldId id="260"/>
            <p14:sldId id="262"/>
          </p14:sldIdLst>
        </p14:section>
        <p14:section name="Motivation" id="{B0E3B94E-37D0-434D-87DB-E5D2809466D5}">
          <p14:sldIdLst>
            <p14:sldId id="583"/>
            <p14:sldId id="651"/>
            <p14:sldId id="654"/>
            <p14:sldId id="662"/>
            <p14:sldId id="628"/>
            <p14:sldId id="619"/>
            <p14:sldId id="621"/>
            <p14:sldId id="661"/>
            <p14:sldId id="643"/>
          </p14:sldIdLst>
        </p14:section>
        <p14:section name="Security for Connected Vehicles" id="{23F3BA29-CA37-F44C-8778-56335ABC6D0D}">
          <p14:sldIdLst/>
        </p14:section>
        <p14:section name="Conclusion" id="{BF8BD241-4766-FB45-A00D-AC8B46799AB7}">
          <p14:sldIdLst>
            <p14:sldId id="633"/>
          </p14:sldIdLst>
        </p14:section>
        <p14:section name="End of documents" id="{C0DC225F-7AE7-5E4A-8B79-BD5778700C8D}">
          <p14:sldIdLst>
            <p14:sldId id="634"/>
            <p14:sldId id="656"/>
            <p14:sldId id="655"/>
            <p14:sldId id="658"/>
            <p14:sldId id="659"/>
          </p14:sldIdLst>
        </p14:section>
        <p14:section name="Appendix" id="{CD2F6F1F-07D8-434B-A18A-64081A3B2744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1BD1D1-A3EE-4BA5-DEFD-B66E8610A1B1}" name="박준희" initials="준박" userId="S::1971535@hansung.ac.kr::309fee41-1303-4bdb-853e-fdc10b8eed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0000FF"/>
    <a:srgbClr val="ED7D31"/>
    <a:srgbClr val="001F99"/>
    <a:srgbClr val="001E99"/>
    <a:srgbClr val="D9D9D9"/>
    <a:srgbClr val="2F5597"/>
    <a:srgbClr val="3B64AD"/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6" autoAdjust="0"/>
    <p:restoredTop sz="94618" autoAdjust="0"/>
  </p:normalViewPr>
  <p:slideViewPr>
    <p:cSldViewPr snapToGrid="0">
      <p:cViewPr>
        <p:scale>
          <a:sx n="111" d="100"/>
          <a:sy n="111" d="100"/>
        </p:scale>
        <p:origin x="536" y="328"/>
      </p:cViewPr>
      <p:guideLst/>
    </p:cSldViewPr>
  </p:slideViewPr>
  <p:outlineViewPr>
    <p:cViewPr>
      <p:scale>
        <a:sx n="33" d="100"/>
        <a:sy n="33" d="100"/>
      </p:scale>
      <p:origin x="0" y="-73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30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8/10/relationships/authors" Target="author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460463099246702"/>
          <c:y val="7.7534325686439309E-2"/>
          <c:w val="0.69193421084838413"/>
          <c:h val="0.74158367013206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 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1"/>
                <c:pt idx="0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0D-4E3C-84D6-CA24172DF0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 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1"/>
                <c:pt idx="0">
                  <c:v>1.4E-2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0D-4E3C-84D6-CA24172DF0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 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1"/>
                <c:pt idx="0">
                  <c:v>1.2E-2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0D-4E3C-84D6-CA24172DF06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 MB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1"/>
                <c:pt idx="0">
                  <c:v>7.0000000000000001E-3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0D-4E3C-84D6-CA24172DF06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 MB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1"/>
                <c:pt idx="0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0D-4E3C-84D6-CA24172DF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0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500 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1"/>
                <c:pt idx="0">
                  <c:v>8.25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0-4D1B-9C9C-01369B0B09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500 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1"/>
                <c:pt idx="0">
                  <c:v>7.05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40-4D1B-9C9C-01369B0B09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500 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1"/>
                <c:pt idx="0">
                  <c:v>6.24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40-4D1B-9C9C-01369B0B09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500 MB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1"/>
                <c:pt idx="0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40-4D1B-9C9C-01369B0B09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500 MB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1"/>
                <c:pt idx="0">
                  <c:v>2.98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40-4D1B-9C9C-01369B0B09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0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numFmt formatCode="0.0&quot; s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460463099246702"/>
          <c:y val="7.7534325686439309E-2"/>
          <c:w val="0.69193421084838413"/>
          <c:h val="0.74158367013206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1"/>
                <c:pt idx="0">
                  <c:v>0.16400000000000001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0D-4E3C-84D6-CA24172DF0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1"/>
                <c:pt idx="0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0D-4E3C-84D6-CA24172DF0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1"/>
                <c:pt idx="0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0D-4E3C-84D6-CA24172DF06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1"/>
                <c:pt idx="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0D-4E3C-84D6-CA24172DF06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1"/>
                <c:pt idx="0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0D-4E3C-84D6-CA24172DF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0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numFmt formatCode="0.00&quot; s&quot;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460463099246702"/>
          <c:y val="7.7534325686439309E-2"/>
          <c:w val="0.69193421084838413"/>
          <c:h val="0.74158367013206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 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1"/>
                <c:pt idx="0">
                  <c:v>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0D-4E3C-84D6-CA24172DF0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 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1"/>
                <c:pt idx="0">
                  <c:v>1.39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0D-4E3C-84D6-CA24172DF06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 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1"/>
                <c:pt idx="0">
                  <c:v>1.25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0D-4E3C-84D6-CA24172DF06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 MB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1"/>
                <c:pt idx="0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0D-4E3C-84D6-CA24172DF06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 MB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1"/>
                <c:pt idx="0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0D-4E3C-84D6-CA24172DF0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0"/>
        <c:axId val="903201071"/>
        <c:axId val="903202511"/>
      </c:barChart>
      <c:dateAx>
        <c:axId val="903201071"/>
        <c:scaling>
          <c:orientation val="minMax"/>
        </c:scaling>
        <c:delete val="0"/>
        <c:axPos val="b"/>
        <c:numFmt formatCode="0.00&quot; s&quot;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0"/>
        <c:lblOffset val="100"/>
        <c:baseTimeUnit val="days"/>
      </c:dateAx>
      <c:valAx>
        <c:axId val="903202511"/>
        <c:scaling>
          <c:orientation val="minMax"/>
          <c:max val="2.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1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1000 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1"/>
                <c:pt idx="0">
                  <c:v>16.440000000000001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0-4D1B-9C9C-01369B0B09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1000 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1"/>
                <c:pt idx="0">
                  <c:v>14.04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40-4D1B-9C9C-01369B0B09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1000 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1"/>
                <c:pt idx="0">
                  <c:v>12.58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40-4D1B-9C9C-01369B0B09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1000 MB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1"/>
                <c:pt idx="0">
                  <c:v>7.73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40-4D1B-9C9C-01369B0B09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1"/>
                <c:pt idx="0">
                  <c:v>1000 MB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1"/>
                <c:pt idx="0">
                  <c:v>6.06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40-4D1B-9C9C-01369B0B09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00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numFmt formatCode="0.0&quot; s&quot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2000" b="1" dirty="0"/>
              <a:t>10MB,</a:t>
            </a:r>
            <a:r>
              <a:rPr lang="en-US" altLang="ko-KR" sz="2000" b="1" baseline="0" dirty="0"/>
              <a:t> </a:t>
            </a:r>
            <a:r>
              <a:rPr lang="en-US" altLang="ko-KR" sz="2000" b="1" dirty="0"/>
              <a:t>SISD vs</a:t>
            </a:r>
            <a:r>
              <a:rPr lang="en-US" altLang="ko-KR" sz="2000" b="1" baseline="0" dirty="0"/>
              <a:t> SIMD</a:t>
            </a:r>
            <a:endParaRPr lang="en-US" altLang="ko-KR" sz="20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7125002679452331E-2"/>
          <c:y val="0.18970888835939115"/>
          <c:w val="0.93287499732054768"/>
          <c:h val="0.705916010268499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SISD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FA-44FA-9AEC-FCE467FE85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BLAKE2S</c:v>
                </c:pt>
                <c:pt idx="1">
                  <c:v>BLAKE2B</c:v>
                </c:pt>
                <c:pt idx="2">
                  <c:v>BLAKE3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1.1200000000000001</c:v>
                </c:pt>
                <c:pt idx="1">
                  <c:v>0.76</c:v>
                </c:pt>
                <c:pt idx="2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FA-44FA-9AEC-FCE467FE85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CFA-44FA-9AEC-FCE467FE85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BLAKE2S</c:v>
                </c:pt>
                <c:pt idx="1">
                  <c:v>BLAKE2B</c:v>
                </c:pt>
                <c:pt idx="2">
                  <c:v>BLAKE3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1.1499999999999999</c:v>
                </c:pt>
                <c:pt idx="1">
                  <c:v>1.1200000000000001</c:v>
                </c:pt>
                <c:pt idx="2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CFA-44FA-9AEC-FCE467FE85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BLAKE2B_SIMD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BLAKE2S</c:v>
                </c:pt>
                <c:pt idx="1">
                  <c:v>BLAKE2B</c:v>
                </c:pt>
                <c:pt idx="2">
                  <c:v>BLAKE3</c:v>
                </c:pt>
              </c:strCache>
            </c:strRef>
          </c:cat>
          <c:val>
            <c:numRef>
              <c:f>Sheet1!$D$2:$D$4</c:f>
            </c:numRef>
          </c:val>
          <c:extLst>
            <c:ext xmlns:c16="http://schemas.microsoft.com/office/drawing/2014/chart" uri="{C3380CC4-5D6E-409C-BE32-E72D297353CC}">
              <c16:uniqueId val="{00000006-4CFA-44FA-9AEC-FCE467FE851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BLAKE2S</c:v>
                </c:pt>
                <c:pt idx="1">
                  <c:v>BLAKE2B</c:v>
                </c:pt>
                <c:pt idx="2">
                  <c:v>BLAKE3</c:v>
                </c:pt>
              </c:strCache>
            </c:strRef>
          </c:cat>
          <c:val>
            <c:numRef>
              <c:f>Sheet1!$E$2:$E$4</c:f>
            </c:numRef>
          </c:val>
          <c:extLst>
            <c:ext xmlns:c16="http://schemas.microsoft.com/office/drawing/2014/chart" uri="{C3380CC4-5D6E-409C-BE32-E72D297353CC}">
              <c16:uniqueId val="{00000007-4CFA-44FA-9AEC-FCE467FE851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BLAKE3_SIMD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BLAKE2S</c:v>
                </c:pt>
                <c:pt idx="1">
                  <c:v>BLAKE2B</c:v>
                </c:pt>
                <c:pt idx="2">
                  <c:v>BLAKE3</c:v>
                </c:pt>
              </c:strCache>
            </c:strRef>
          </c:cat>
          <c:val>
            <c:numRef>
              <c:f>Sheet1!$F$2:$F$4</c:f>
            </c:numRef>
          </c:val>
          <c:extLst>
            <c:ext xmlns:c16="http://schemas.microsoft.com/office/drawing/2014/chart" uri="{C3380CC4-5D6E-409C-BE32-E72D297353CC}">
              <c16:uniqueId val="{00000008-4CFA-44FA-9AEC-FCE467FE851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BLAKE2S</c:v>
                </c:pt>
                <c:pt idx="1">
                  <c:v>BLAKE2B</c:v>
                </c:pt>
                <c:pt idx="2">
                  <c:v>BLAKE3</c:v>
                </c:pt>
              </c:strCache>
            </c:strRef>
          </c:cat>
          <c:val>
            <c:numRef>
              <c:f>Sheet1!$G$2:$G$4</c:f>
            </c:numRef>
          </c:val>
          <c:extLst>
            <c:ext xmlns:c16="http://schemas.microsoft.com/office/drawing/2014/chart" uri="{C3380CC4-5D6E-409C-BE32-E72D297353CC}">
              <c16:uniqueId val="{00000009-4CFA-44FA-9AEC-FCE467FE85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 dirty="0"/>
              <a:t>10MB,</a:t>
            </a:r>
            <a:r>
              <a:rPr lang="en-US" altLang="ko-KR" b="1" baseline="0" dirty="0"/>
              <a:t> </a:t>
            </a:r>
            <a:r>
              <a:rPr lang="ko-KR" altLang="en-US" b="1" dirty="0"/>
              <a:t>메모리 사용량</a:t>
            </a:r>
          </a:p>
        </c:rich>
      </c:tx>
      <c:overlay val="0"/>
      <c:spPr>
        <a:noFill/>
        <a:ln>
          <a:solidFill>
            <a:schemeClr val="bg1">
              <a:alpha val="98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5">
                <a:tint val="54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27-40EC-A86E-20E2E89676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27-40EC-A86E-20E2E89676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27-40EC-A86E-20E2E89676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927-40EC-A86E-20E2E896760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927-40EC-A86E-20E2E89676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&quot; MB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="1" dirty="0"/>
              <a:t>10MB, CPU </a:t>
            </a:r>
            <a:r>
              <a:rPr lang="ko-KR" altLang="en-US" b="1" dirty="0"/>
              <a:t>점유율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5">
                <a:tint val="54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A-4465-8394-195B35F5C6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9A-4465-8394-195B35F5C6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9A-4465-8394-195B35F5C6A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9A-4465-8394-195B35F5C6A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</c:f>
              <c:strCache>
                <c:ptCount val="1"/>
                <c:pt idx="0">
                  <c:v>10 MB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9A-4465-8394-195B35F5C6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&quot; 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447970311633805"/>
          <c:y val="2.6173651601596477E-2"/>
          <c:w val="0.93244741419385846"/>
          <c:h val="0.6018677714941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5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 MB</c:v>
                </c:pt>
                <c:pt idx="1">
                  <c:v>100 MB</c:v>
                </c:pt>
                <c:pt idx="2">
                  <c:v>500 MB</c:v>
                </c:pt>
                <c:pt idx="3">
                  <c:v>1000 MB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4.18</c:v>
                </c:pt>
                <c:pt idx="1">
                  <c:v>4.47</c:v>
                </c:pt>
                <c:pt idx="2">
                  <c:v>4.5</c:v>
                </c:pt>
                <c:pt idx="3">
                  <c:v>4.5199999999999996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85-446C-91D6-D48A1138B7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 MB</c:v>
                </c:pt>
                <c:pt idx="1">
                  <c:v>100 MB</c:v>
                </c:pt>
                <c:pt idx="2">
                  <c:v>500 MB</c:v>
                </c:pt>
                <c:pt idx="3">
                  <c:v>1000 MB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3.71</c:v>
                </c:pt>
                <c:pt idx="1">
                  <c:v>4.41</c:v>
                </c:pt>
                <c:pt idx="2">
                  <c:v>4.5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85-446C-91D6-D48A1138B7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 MB</c:v>
                </c:pt>
                <c:pt idx="1">
                  <c:v>100 MB</c:v>
                </c:pt>
                <c:pt idx="2">
                  <c:v>500 MB</c:v>
                </c:pt>
                <c:pt idx="3">
                  <c:v>1000 MB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3.71</c:v>
                </c:pt>
                <c:pt idx="1">
                  <c:v>4.4000000000000004</c:v>
                </c:pt>
                <c:pt idx="2">
                  <c:v>4.4800000000000004</c:v>
                </c:pt>
                <c:pt idx="3">
                  <c:v>4.51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85-446C-91D6-D48A1138B73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 MB</c:v>
                </c:pt>
                <c:pt idx="1">
                  <c:v>100 MB</c:v>
                </c:pt>
                <c:pt idx="2">
                  <c:v>500 MB</c:v>
                </c:pt>
                <c:pt idx="3">
                  <c:v>1000 MB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3.15</c:v>
                </c:pt>
                <c:pt idx="1">
                  <c:v>4.3499999999999996</c:v>
                </c:pt>
                <c:pt idx="2">
                  <c:v>4.47</c:v>
                </c:pt>
                <c:pt idx="3">
                  <c:v>4.49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85-446C-91D6-D48A1138B73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10 MB</c:v>
                </c:pt>
                <c:pt idx="1">
                  <c:v>100 MB</c:v>
                </c:pt>
                <c:pt idx="2">
                  <c:v>500 MB</c:v>
                </c:pt>
                <c:pt idx="3">
                  <c:v>1000 MB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1.33</c:v>
                </c:pt>
                <c:pt idx="1">
                  <c:v>1.58</c:v>
                </c:pt>
                <c:pt idx="2">
                  <c:v>1.61</c:v>
                </c:pt>
                <c:pt idx="3">
                  <c:v>1.61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85-446C-91D6-D48A1138B7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447970311633805"/>
          <c:y val="2.6173651601596477E-2"/>
          <c:w val="0.93244741419385846"/>
          <c:h val="0.6018677714941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SHA-256</c:v>
                </c:pt>
              </c:strCache>
            </c:strRef>
          </c:tx>
          <c:spPr>
            <a:solidFill>
              <a:schemeClr val="accent5">
                <a:tint val="54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MB</c:v>
                </c:pt>
                <c:pt idx="1">
                  <c:v>10 MB</c:v>
                </c:pt>
                <c:pt idx="2">
                  <c:v>100 MB</c:v>
                </c:pt>
                <c:pt idx="3">
                  <c:v>500 MB</c:v>
                </c:pt>
                <c:pt idx="4">
                  <c:v>1000 MB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91</c:v>
                </c:pt>
                <c:pt idx="2">
                  <c:v>91</c:v>
                </c:pt>
                <c:pt idx="3">
                  <c:v>88</c:v>
                </c:pt>
                <c:pt idx="4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2-49E6-862D-FE5C802825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SHA3-256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MB</c:v>
                </c:pt>
                <c:pt idx="1">
                  <c:v>10 MB</c:v>
                </c:pt>
                <c:pt idx="2">
                  <c:v>100 MB</c:v>
                </c:pt>
                <c:pt idx="3">
                  <c:v>500 MB</c:v>
                </c:pt>
                <c:pt idx="4">
                  <c:v>1000 MB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83</c:v>
                </c:pt>
                <c:pt idx="1">
                  <c:v>79</c:v>
                </c:pt>
                <c:pt idx="2">
                  <c:v>76</c:v>
                </c:pt>
                <c:pt idx="3">
                  <c:v>86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A2-49E6-862D-FE5C802825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BLAKE2S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MB</c:v>
                </c:pt>
                <c:pt idx="1">
                  <c:v>10 MB</c:v>
                </c:pt>
                <c:pt idx="2">
                  <c:v>100 MB</c:v>
                </c:pt>
                <c:pt idx="3">
                  <c:v>500 MB</c:v>
                </c:pt>
                <c:pt idx="4">
                  <c:v>1000 MB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71</c:v>
                </c:pt>
                <c:pt idx="1">
                  <c:v>77</c:v>
                </c:pt>
                <c:pt idx="2">
                  <c:v>77</c:v>
                </c:pt>
                <c:pt idx="3">
                  <c:v>78</c:v>
                </c:pt>
                <c:pt idx="4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FA2-49E6-862D-FE5C802825E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BLAKE2B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MB</c:v>
                </c:pt>
                <c:pt idx="1">
                  <c:v>10 MB</c:v>
                </c:pt>
                <c:pt idx="2">
                  <c:v>100 MB</c:v>
                </c:pt>
                <c:pt idx="3">
                  <c:v>500 MB</c:v>
                </c:pt>
                <c:pt idx="4">
                  <c:v>1000 MB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84</c:v>
                </c:pt>
                <c:pt idx="1">
                  <c:v>78</c:v>
                </c:pt>
                <c:pt idx="2">
                  <c:v>75</c:v>
                </c:pt>
                <c:pt idx="3">
                  <c:v>73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A2-49E6-862D-FE5C802825E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BLAKE3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MB</c:v>
                </c:pt>
                <c:pt idx="1">
                  <c:v>10 MB</c:v>
                </c:pt>
                <c:pt idx="2">
                  <c:v>100 MB</c:v>
                </c:pt>
                <c:pt idx="3">
                  <c:v>500 MB</c:v>
                </c:pt>
                <c:pt idx="4">
                  <c:v>1000 MB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77</c:v>
                </c:pt>
                <c:pt idx="1">
                  <c:v>78</c:v>
                </c:pt>
                <c:pt idx="2">
                  <c:v>67</c:v>
                </c:pt>
                <c:pt idx="3">
                  <c:v>67</c:v>
                </c:pt>
                <c:pt idx="4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A2-49E6-862D-FE5C80282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03201071"/>
        <c:axId val="903202511"/>
      </c:barChart>
      <c:catAx>
        <c:axId val="9032010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2511"/>
        <c:crosses val="autoZero"/>
        <c:auto val="1"/>
        <c:lblAlgn val="ctr"/>
        <c:lblOffset val="100"/>
        <c:noMultiLvlLbl val="0"/>
      </c:catAx>
      <c:valAx>
        <c:axId val="90320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0320107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9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10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21583" cy="495507"/>
          </a:xfrm>
          <a:prstGeom prst="rect">
            <a:avLst/>
          </a:prstGeom>
        </p:spPr>
        <p:txBody>
          <a:bodyPr vert="horz" lIns="91512" tIns="45756" rIns="91512" bIns="45756" rtlCol="0"/>
          <a:lstStyle>
            <a:lvl1pPr algn="l">
              <a:defRPr sz="1200" b="0" i="0">
                <a:latin typeface="Malgun Gothic" panose="020B0503020000020004" pitchFamily="34" charset="-127"/>
              </a:defRPr>
            </a:lvl1pPr>
          </a:lstStyle>
          <a:p>
            <a:endParaRPr kumimoji="1" lang="ko-Kore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971" y="1"/>
            <a:ext cx="2921583" cy="495507"/>
          </a:xfrm>
          <a:prstGeom prst="rect">
            <a:avLst/>
          </a:prstGeom>
        </p:spPr>
        <p:txBody>
          <a:bodyPr vert="horz" lIns="91512" tIns="45756" rIns="91512" bIns="45756" rtlCol="0"/>
          <a:lstStyle>
            <a:lvl1pPr algn="r">
              <a:defRPr sz="1200" b="0" i="0">
                <a:latin typeface="Malgun Gothic" panose="020B0503020000020004" pitchFamily="34" charset="-127"/>
              </a:defRPr>
            </a:lvl1pPr>
          </a:lstStyle>
          <a:p>
            <a:fld id="{7932F5DE-D355-154D-B415-EBF9700A6A05}" type="datetimeFigureOut">
              <a:rPr kumimoji="1" lang="ko-Kore-KR" altLang="en-US" smtClean="0"/>
              <a:pPr/>
              <a:t>2025. 5. 22.</a:t>
            </a:fld>
            <a:endParaRPr kumimoji="1" lang="ko-Kore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5075"/>
            <a:ext cx="5922963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12" tIns="45756" rIns="91512" bIns="45756" rtlCol="0" anchor="ctr"/>
          <a:lstStyle/>
          <a:p>
            <a:endParaRPr lang="ko-Kore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2" y="4752749"/>
            <a:ext cx="5393690" cy="3888611"/>
          </a:xfrm>
          <a:prstGeom prst="rect">
            <a:avLst/>
          </a:prstGeom>
        </p:spPr>
        <p:txBody>
          <a:bodyPr vert="horz" lIns="91512" tIns="45756" rIns="91512" bIns="45756" rtlCol="0"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80333"/>
            <a:ext cx="2921583" cy="495506"/>
          </a:xfrm>
          <a:prstGeom prst="rect">
            <a:avLst/>
          </a:prstGeom>
        </p:spPr>
        <p:txBody>
          <a:bodyPr vert="horz" lIns="91512" tIns="45756" rIns="91512" bIns="45756" rtlCol="0" anchor="b"/>
          <a:lstStyle>
            <a:lvl1pPr algn="l">
              <a:defRPr sz="1200" b="0" i="0">
                <a:latin typeface="Malgun Gothic" panose="020B0503020000020004" pitchFamily="34" charset="-127"/>
              </a:defRPr>
            </a:lvl1pPr>
          </a:lstStyle>
          <a:p>
            <a:endParaRPr kumimoji="1" lang="ko-Kore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971" y="9380333"/>
            <a:ext cx="2921583" cy="495506"/>
          </a:xfrm>
          <a:prstGeom prst="rect">
            <a:avLst/>
          </a:prstGeom>
        </p:spPr>
        <p:txBody>
          <a:bodyPr vert="horz" lIns="91512" tIns="45756" rIns="91512" bIns="45756" rtlCol="0" anchor="b"/>
          <a:lstStyle>
            <a:lvl1pPr algn="r">
              <a:defRPr sz="1200" b="0" i="0">
                <a:latin typeface="Malgun Gothic" panose="020B0503020000020004" pitchFamily="34" charset="-127"/>
              </a:defRPr>
            </a:lvl1pPr>
          </a:lstStyle>
          <a:p>
            <a:fld id="{2ABF6D33-A416-FF43-B213-EFEAE893ED2C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282389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algun Gothic" panose="020B0503020000020004" pitchFamily="34" charset="-12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algun Gothic" panose="020B0503020000020004" pitchFamily="34" charset="-12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algun Gothic" panose="020B0503020000020004" pitchFamily="34" charset="-12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algun Gothic" panose="020B0503020000020004" pitchFamily="34" charset="-12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algun Gothic" panose="020B0503020000020004" pitchFamily="34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BB39E-6088-4F7C-ADF1-6070937AF43F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772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최근 자동차 산업 시장이 늘어남에 따라 </a:t>
            </a:r>
            <a:r>
              <a:rPr lang="en-US" altLang="ko-KR" dirty="0"/>
              <a:t>-&gt; </a:t>
            </a:r>
            <a:r>
              <a:rPr lang="ko-KR" altLang="en-US" dirty="0"/>
              <a:t>전자제어 장치인 </a:t>
            </a:r>
            <a:r>
              <a:rPr lang="en-US" altLang="ko-KR" dirty="0"/>
              <a:t>ECU</a:t>
            </a:r>
            <a:r>
              <a:rPr lang="ko-KR" altLang="en-US" dirty="0"/>
              <a:t>의 </a:t>
            </a:r>
            <a:r>
              <a:rPr lang="en-US" altLang="ko-KR" dirty="0" err="1"/>
              <a:t>sw</a:t>
            </a:r>
            <a:r>
              <a:rPr lang="en-US" altLang="ko-KR" dirty="0"/>
              <a:t> </a:t>
            </a:r>
            <a:r>
              <a:rPr lang="ko-KR" altLang="en-US" dirty="0"/>
              <a:t>업데이트 중요성 증가</a:t>
            </a:r>
            <a:br>
              <a:rPr lang="en-US" altLang="ko-KR" dirty="0"/>
            </a:br>
            <a:r>
              <a:rPr lang="ko-KR" altLang="en-US" dirty="0"/>
              <a:t>사용자가 안전하게 설치 </a:t>
            </a:r>
            <a:r>
              <a:rPr lang="en-US" altLang="ko-KR" dirty="0"/>
              <a:t>-&gt; </a:t>
            </a:r>
            <a:r>
              <a:rPr lang="ko-KR" altLang="en-US" dirty="0"/>
              <a:t>무결성 검사</a:t>
            </a:r>
            <a:br>
              <a:rPr lang="en-US" altLang="ko-KR" dirty="0"/>
            </a:br>
            <a:r>
              <a:rPr lang="ko-KR" altLang="en-US" dirty="0"/>
              <a:t>기존에는 </a:t>
            </a:r>
            <a:r>
              <a:rPr lang="en-US" altLang="ko-KR" dirty="0"/>
              <a:t>SHA256</a:t>
            </a:r>
            <a:r>
              <a:rPr lang="ko-KR" altLang="en-US" dirty="0"/>
              <a:t>이 널리 사용 </a:t>
            </a:r>
            <a:r>
              <a:rPr lang="en-US" altLang="ko-KR" dirty="0"/>
              <a:t>-&gt; </a:t>
            </a:r>
            <a:r>
              <a:rPr lang="ko-KR" altLang="en-US" dirty="0"/>
              <a:t>이 연구</a:t>
            </a:r>
            <a:r>
              <a:rPr lang="en-US" altLang="ko-KR" dirty="0"/>
              <a:t> </a:t>
            </a:r>
            <a:r>
              <a:rPr lang="ko-KR" altLang="en-US" dirty="0"/>
              <a:t>연산자원 메모리 제한된 환경에서 </a:t>
            </a:r>
            <a:r>
              <a:rPr lang="en-US" altLang="ko-KR" dirty="0"/>
              <a:t>-&gt;</a:t>
            </a:r>
            <a:r>
              <a:rPr lang="ko-KR" altLang="en-US" dirty="0"/>
              <a:t> 보다 적합한 해시 알고리즘 탐색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pPr/>
              <a:t>3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976087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A9575-0343-BAC4-2978-8933DE0C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91A0AD-8FD9-AFC7-F4CC-CD07D3C31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F6205-BD2F-BD26-B084-75CBC3AA0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dirty="0"/>
              <a:t>병렬처리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기존 해시 함수는 순차 처리 방식을 사용 </a:t>
            </a:r>
            <a:r>
              <a:rPr lang="en-US" altLang="ko-KR" dirty="0"/>
              <a:t>-&gt; </a:t>
            </a:r>
            <a:r>
              <a:rPr lang="ko-KR" altLang="en-US" dirty="0"/>
              <a:t>이전 </a:t>
            </a:r>
            <a:r>
              <a:rPr lang="ko-KR" altLang="en-US" dirty="0" err="1"/>
              <a:t>상태값에</a:t>
            </a:r>
            <a:r>
              <a:rPr lang="ko-KR" altLang="en-US" dirty="0"/>
              <a:t> 의존하여 다음 순번의 </a:t>
            </a:r>
            <a:r>
              <a:rPr lang="ko-KR" altLang="en-US" dirty="0" err="1"/>
              <a:t>해싱처리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선형적으로 걸림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BLAKE3 </a:t>
            </a:r>
            <a:r>
              <a:rPr lang="ko-KR" altLang="en-US" dirty="0"/>
              <a:t>병렬처리를 통하여 각 </a:t>
            </a:r>
            <a:r>
              <a:rPr lang="ko-KR" altLang="en-US" dirty="0" err="1"/>
              <a:t>청크별로</a:t>
            </a:r>
            <a:r>
              <a:rPr lang="ko-KR" altLang="en-US" dirty="0"/>
              <a:t> 독립적으로 </a:t>
            </a:r>
            <a:r>
              <a:rPr lang="ko-KR" altLang="en-US" dirty="0" err="1"/>
              <a:t>해싱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시간 효과적으로 단축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en-US" dirty="0"/>
              <a:t>이러한 처리가 가능한 것 </a:t>
            </a:r>
            <a:r>
              <a:rPr lang="en-US" altLang="ko-KR" dirty="0"/>
              <a:t>BLAKE3</a:t>
            </a:r>
            <a:r>
              <a:rPr lang="ko-KR" altLang="en-US" dirty="0"/>
              <a:t>가 </a:t>
            </a:r>
            <a:r>
              <a:rPr lang="en-US" altLang="ko-KR" b="1" dirty="0"/>
              <a:t>Merkle Tree</a:t>
            </a:r>
            <a:r>
              <a:rPr lang="ko-KR" altLang="en-US" b="1" dirty="0"/>
              <a:t> 구조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입력 데이터를 </a:t>
            </a:r>
            <a:r>
              <a:rPr lang="en-US" altLang="ko-KR" dirty="0"/>
              <a:t>1KB </a:t>
            </a:r>
            <a:r>
              <a:rPr lang="ko-KR" altLang="en-US" dirty="0"/>
              <a:t>단위의 </a:t>
            </a:r>
            <a:r>
              <a:rPr lang="ko-KR" altLang="en-US" dirty="0" err="1"/>
              <a:t>청크로</a:t>
            </a:r>
            <a:r>
              <a:rPr lang="ko-KR" altLang="en-US" dirty="0"/>
              <a:t> 나눔 </a:t>
            </a:r>
            <a:r>
              <a:rPr lang="en-US" altLang="ko-KR" dirty="0"/>
              <a:t>-&gt; </a:t>
            </a:r>
            <a:r>
              <a:rPr lang="ko-KR" altLang="en-US" dirty="0"/>
              <a:t>병렬로 독립적으로 </a:t>
            </a:r>
            <a:r>
              <a:rPr lang="ko-KR" altLang="en-US" dirty="0" err="1"/>
              <a:t>해싱</a:t>
            </a:r>
            <a:br>
              <a:rPr lang="en-US" altLang="ko-KR" dirty="0"/>
            </a:br>
            <a:r>
              <a:rPr lang="ko-KR" altLang="en-US" dirty="0" err="1"/>
              <a:t>해싱은</a:t>
            </a:r>
            <a:r>
              <a:rPr lang="ko-KR" altLang="en-US" dirty="0"/>
              <a:t> </a:t>
            </a:r>
            <a:r>
              <a:rPr lang="en-US" altLang="ko-KR" dirty="0"/>
              <a:t>compress() </a:t>
            </a:r>
            <a:r>
              <a:rPr lang="ko-KR" altLang="en-US" dirty="0"/>
              <a:t>함수 내부에서 수행  </a:t>
            </a:r>
            <a:r>
              <a:rPr lang="en-US" altLang="ko-KR" b="1" dirty="0"/>
              <a:t>SIMD </a:t>
            </a:r>
            <a:r>
              <a:rPr lang="ko-KR" altLang="en-US" b="1" dirty="0"/>
              <a:t>연산인 벡터연산으로 빠르게 처리</a:t>
            </a:r>
            <a:br>
              <a:rPr lang="ko-KR" altLang="en-US" dirty="0"/>
            </a:br>
            <a:r>
              <a:rPr lang="ko-KR" altLang="en-US" b="1" dirty="0"/>
              <a:t>하나의 </a:t>
            </a:r>
            <a:r>
              <a:rPr lang="ko-KR" altLang="en-US" b="1" dirty="0" err="1"/>
              <a:t>청크</a:t>
            </a:r>
            <a:r>
              <a:rPr lang="ko-KR" altLang="en-US" b="1" dirty="0"/>
              <a:t> 안에서도 벡터 연산</a:t>
            </a:r>
            <a:r>
              <a:rPr lang="ko-KR" altLang="en-US" dirty="0"/>
              <a:t>을 통해 빠른 처리가 가능합니다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각각의 </a:t>
            </a:r>
            <a:r>
              <a:rPr lang="ko-KR" altLang="en-US" dirty="0" err="1"/>
              <a:t>청크는</a:t>
            </a:r>
            <a:r>
              <a:rPr lang="ko-KR" altLang="en-US" dirty="0"/>
              <a:t> </a:t>
            </a:r>
            <a:r>
              <a:rPr lang="ko-KR" altLang="en-US" dirty="0" err="1"/>
              <a:t>해싱</a:t>
            </a:r>
            <a:r>
              <a:rPr lang="ko-KR" altLang="en-US" dirty="0"/>
              <a:t> 결과로</a:t>
            </a:r>
            <a:r>
              <a:rPr lang="en-US" altLang="ko-KR" dirty="0"/>
              <a:t> </a:t>
            </a:r>
            <a:r>
              <a:rPr lang="ko-KR" altLang="en-US" dirty="0"/>
              <a:t>부분 해시 값 출력</a:t>
            </a:r>
            <a:br>
              <a:rPr lang="en-US" altLang="ko-KR" dirty="0"/>
            </a:br>
            <a:r>
              <a:rPr lang="ko-KR" altLang="en-US" dirty="0"/>
              <a:t>이 </a:t>
            </a:r>
            <a:r>
              <a:rPr lang="en-US" altLang="ko-KR" dirty="0"/>
              <a:t>CV </a:t>
            </a:r>
            <a:r>
              <a:rPr lang="ko-KR" altLang="en-US" dirty="0"/>
              <a:t>값들은 </a:t>
            </a:r>
            <a:r>
              <a:rPr lang="en-US" altLang="ko-KR" dirty="0"/>
              <a:t>Merkle Tree </a:t>
            </a:r>
            <a:r>
              <a:rPr lang="ko-KR" altLang="en-US" dirty="0"/>
              <a:t>구조를 통해 결합되어 최종 </a:t>
            </a:r>
            <a:r>
              <a:rPr lang="ko-KR" altLang="en-US" dirty="0" err="1"/>
              <a:t>해시값</a:t>
            </a:r>
            <a:r>
              <a:rPr lang="ko-KR" altLang="en-US" dirty="0"/>
              <a:t> 생성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FCA5A-2677-7BE2-9A54-F019C305F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pPr/>
              <a:t>4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623229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5849-D9FF-0D9A-C4BB-71A0DD04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EB61F2-9290-9AA7-8315-9A10E6818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F963A6-420D-799C-BD23-E27F6BDD3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dirty="0"/>
              <a:t>병렬처리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기존 해시 함수는 순차 처리 방식을 사용 </a:t>
            </a:r>
            <a:r>
              <a:rPr lang="en-US" altLang="ko-KR" dirty="0"/>
              <a:t>-&gt; </a:t>
            </a:r>
            <a:r>
              <a:rPr lang="ko-KR" altLang="en-US" dirty="0"/>
              <a:t>이전 </a:t>
            </a:r>
            <a:r>
              <a:rPr lang="ko-KR" altLang="en-US" dirty="0" err="1"/>
              <a:t>상태값에</a:t>
            </a:r>
            <a:r>
              <a:rPr lang="ko-KR" altLang="en-US" dirty="0"/>
              <a:t> 의존하여 다음 순번의 </a:t>
            </a:r>
            <a:r>
              <a:rPr lang="ko-KR" altLang="en-US" dirty="0" err="1"/>
              <a:t>해싱처리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선형적으로 걸림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BLAKE3 </a:t>
            </a:r>
            <a:r>
              <a:rPr lang="ko-KR" altLang="en-US" dirty="0"/>
              <a:t>병렬처리를 통하여 각 </a:t>
            </a:r>
            <a:r>
              <a:rPr lang="ko-KR" altLang="en-US" dirty="0" err="1"/>
              <a:t>청크별로</a:t>
            </a:r>
            <a:r>
              <a:rPr lang="ko-KR" altLang="en-US" dirty="0"/>
              <a:t> 독립적으로 </a:t>
            </a:r>
            <a:r>
              <a:rPr lang="ko-KR" altLang="en-US" dirty="0" err="1"/>
              <a:t>해싱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시간 효과적으로 단축</a:t>
            </a:r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ko-KR" altLang="en-US" dirty="0"/>
              <a:t>이러한 처리가 가능한 것 </a:t>
            </a:r>
            <a:r>
              <a:rPr lang="en-US" altLang="ko-KR" dirty="0"/>
              <a:t>BLAKE3</a:t>
            </a:r>
            <a:r>
              <a:rPr lang="ko-KR" altLang="en-US" dirty="0"/>
              <a:t>가 </a:t>
            </a:r>
            <a:r>
              <a:rPr lang="en-US" altLang="ko-KR" b="1" dirty="0"/>
              <a:t>Merkle Tree</a:t>
            </a:r>
            <a:r>
              <a:rPr lang="ko-KR" altLang="en-US" b="1" dirty="0"/>
              <a:t> 구조</a:t>
            </a:r>
            <a:endParaRPr lang="en-US" altLang="ko-KR" dirty="0"/>
          </a:p>
          <a:p>
            <a:pPr>
              <a:buNone/>
            </a:pPr>
            <a:r>
              <a:rPr lang="ko-KR" altLang="en-US" dirty="0"/>
              <a:t>입력 데이터를 </a:t>
            </a:r>
            <a:r>
              <a:rPr lang="en-US" altLang="ko-KR" dirty="0"/>
              <a:t>1KB </a:t>
            </a:r>
            <a:r>
              <a:rPr lang="ko-KR" altLang="en-US" dirty="0"/>
              <a:t>단위의 </a:t>
            </a:r>
            <a:r>
              <a:rPr lang="ko-KR" altLang="en-US" dirty="0" err="1"/>
              <a:t>청크로</a:t>
            </a:r>
            <a:r>
              <a:rPr lang="ko-KR" altLang="en-US" dirty="0"/>
              <a:t> 나눔 </a:t>
            </a:r>
            <a:r>
              <a:rPr lang="en-US" altLang="ko-KR" dirty="0"/>
              <a:t>-&gt; </a:t>
            </a:r>
            <a:r>
              <a:rPr lang="ko-KR" altLang="en-US" dirty="0"/>
              <a:t>병렬로 독립적으로 </a:t>
            </a:r>
            <a:r>
              <a:rPr lang="ko-KR" altLang="en-US" dirty="0" err="1"/>
              <a:t>해싱</a:t>
            </a:r>
            <a:br>
              <a:rPr lang="en-US" altLang="ko-KR" dirty="0"/>
            </a:br>
            <a:r>
              <a:rPr lang="ko-KR" altLang="en-US" dirty="0" err="1"/>
              <a:t>해싱은</a:t>
            </a:r>
            <a:r>
              <a:rPr lang="ko-KR" altLang="en-US" dirty="0"/>
              <a:t> </a:t>
            </a:r>
            <a:r>
              <a:rPr lang="en-US" altLang="ko-KR" dirty="0"/>
              <a:t>compress() </a:t>
            </a:r>
            <a:r>
              <a:rPr lang="ko-KR" altLang="en-US" dirty="0"/>
              <a:t>함수 내부에서 수행  </a:t>
            </a:r>
            <a:r>
              <a:rPr lang="en-US" altLang="ko-KR" b="1" dirty="0"/>
              <a:t>SIMD </a:t>
            </a:r>
            <a:r>
              <a:rPr lang="ko-KR" altLang="en-US" b="1" dirty="0"/>
              <a:t>연산인 벡터연산으로 빠르게 처리</a:t>
            </a:r>
            <a:br>
              <a:rPr lang="ko-KR" altLang="en-US" dirty="0"/>
            </a:br>
            <a:r>
              <a:rPr lang="ko-KR" altLang="en-US" b="1" dirty="0"/>
              <a:t>하나의 </a:t>
            </a:r>
            <a:r>
              <a:rPr lang="ko-KR" altLang="en-US" b="1" dirty="0" err="1"/>
              <a:t>청크</a:t>
            </a:r>
            <a:r>
              <a:rPr lang="ko-KR" altLang="en-US" b="1" dirty="0"/>
              <a:t> 안에서도 벡터 연산</a:t>
            </a:r>
            <a:r>
              <a:rPr lang="ko-KR" altLang="en-US" dirty="0"/>
              <a:t>을 통해 빠른 처리가 가능합니다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각각의 </a:t>
            </a:r>
            <a:r>
              <a:rPr lang="ko-KR" altLang="en-US" dirty="0" err="1"/>
              <a:t>청크는</a:t>
            </a:r>
            <a:r>
              <a:rPr lang="ko-KR" altLang="en-US" dirty="0"/>
              <a:t> </a:t>
            </a:r>
            <a:r>
              <a:rPr lang="ko-KR" altLang="en-US" dirty="0" err="1"/>
              <a:t>해싱</a:t>
            </a:r>
            <a:r>
              <a:rPr lang="ko-KR" altLang="en-US" dirty="0"/>
              <a:t> 결과로</a:t>
            </a:r>
            <a:r>
              <a:rPr lang="en-US" altLang="ko-KR" dirty="0"/>
              <a:t> </a:t>
            </a:r>
            <a:r>
              <a:rPr lang="ko-KR" altLang="en-US" dirty="0"/>
              <a:t>부분 해시 값 출력</a:t>
            </a:r>
            <a:br>
              <a:rPr lang="en-US" altLang="ko-KR" dirty="0"/>
            </a:br>
            <a:r>
              <a:rPr lang="ko-KR" altLang="en-US" dirty="0"/>
              <a:t>이 </a:t>
            </a:r>
            <a:r>
              <a:rPr lang="en-US" altLang="ko-KR" dirty="0"/>
              <a:t>CV </a:t>
            </a:r>
            <a:r>
              <a:rPr lang="ko-KR" altLang="en-US" dirty="0"/>
              <a:t>값들은 </a:t>
            </a:r>
            <a:r>
              <a:rPr lang="en-US" altLang="ko-KR" dirty="0"/>
              <a:t>Merkle Tree </a:t>
            </a:r>
            <a:r>
              <a:rPr lang="ko-KR" altLang="en-US" dirty="0"/>
              <a:t>구조를 통해 결합되어 최종 </a:t>
            </a:r>
            <a:r>
              <a:rPr lang="ko-KR" altLang="en-US" dirty="0" err="1"/>
              <a:t>해시값</a:t>
            </a:r>
            <a:r>
              <a:rPr lang="ko-KR" altLang="en-US" dirty="0"/>
              <a:t> 생성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C65D34-2D59-2CCF-8009-60CB733F5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pPr/>
              <a:t>5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37533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3DC1-13D4-612B-46D4-6D7BA6D0A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7B864-1277-0915-F431-0DE10DD2B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70617-33E0-B5F6-2DEA-00CA28B22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C3DDC5-8EE7-3E81-431A-150D38125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2694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SIMD</a:t>
            </a:r>
            <a:r>
              <a:rPr lang="ko-KR" altLang="en-US" dirty="0"/>
              <a:t>라는 기술에 친화적 구조를 가지고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해시 함수 </a:t>
            </a:r>
            <a:r>
              <a:rPr lang="en-US" altLang="ko-KR" dirty="0"/>
              <a:t>-&gt; SISD</a:t>
            </a:r>
            <a:br>
              <a:rPr lang="en-US" altLang="ko-KR" dirty="0"/>
            </a:br>
            <a:r>
              <a:rPr lang="en-US" altLang="ko-KR" dirty="0"/>
              <a:t>BLAKE3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SIDM</a:t>
            </a:r>
          </a:p>
          <a:p>
            <a:r>
              <a:rPr lang="ko-KR" altLang="en-US" dirty="0"/>
              <a:t>그림 설명</a:t>
            </a:r>
            <a:endParaRPr lang="en-US" altLang="ko-KR" dirty="0"/>
          </a:p>
          <a:p>
            <a:r>
              <a:rPr lang="ko-KR" altLang="en-US" dirty="0"/>
              <a:t>아키텍처에 따라 </a:t>
            </a:r>
            <a:r>
              <a:rPr lang="en-US" altLang="ko-KR" dirty="0"/>
              <a:t>ARM</a:t>
            </a:r>
            <a:r>
              <a:rPr lang="ko-KR" altLang="en-US" dirty="0"/>
              <a:t>환경에서는 </a:t>
            </a:r>
            <a:r>
              <a:rPr lang="en-US" altLang="ko-KR" dirty="0"/>
              <a:t>NEON</a:t>
            </a:r>
            <a:r>
              <a:rPr lang="ko-KR" altLang="en-US" dirty="0"/>
              <a:t>로 분류됨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pPr/>
              <a:t>7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826661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이를 증명하기위 실험을 진행하였는데</a:t>
            </a:r>
            <a:br>
              <a:rPr lang="en-US" altLang="ko-KR" dirty="0"/>
            </a:br>
            <a:r>
              <a:rPr lang="ko-KR" altLang="en-US" dirty="0"/>
              <a:t>실험 방법은 </a:t>
            </a:r>
            <a:r>
              <a:rPr lang="en-US" altLang="ko-KR" dirty="0"/>
              <a:t>-&gt;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pPr/>
              <a:t>8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928821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332CA-A392-3FF5-42F8-684A939F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4D9E22-80C1-859A-97A4-837B15709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6C8D63-5820-2805-C55A-0CBA6C250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Blake3</a:t>
            </a:r>
            <a:r>
              <a:rPr lang="ko-KR" altLang="en-US" dirty="0"/>
              <a:t>가 임베디드 환경에서 적합한지에 대한 실험 결과</a:t>
            </a:r>
            <a:endParaRPr lang="en-US" altLang="ko-KR" dirty="0"/>
          </a:p>
          <a:p>
            <a:r>
              <a:rPr lang="ko-KR" altLang="en-US" dirty="0"/>
              <a:t>스칼라 연산과 벡터 연산의 처리시간을 분석하였을 때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>
                <a:highlight>
                  <a:srgbClr val="FFFF00"/>
                </a:highlight>
              </a:rPr>
              <a:t>BLAKE3, </a:t>
            </a:r>
            <a:r>
              <a:rPr lang="ko-KR" altLang="en-US" b="1" dirty="0">
                <a:highlight>
                  <a:srgbClr val="FFFF00"/>
                </a:highlight>
              </a:rPr>
              <a:t>내부 구조가 병렬 연산 및 벡터 처리 최적화 </a:t>
            </a:r>
            <a:r>
              <a:rPr lang="en-US" altLang="ko-KR" b="1" dirty="0">
                <a:highlight>
                  <a:srgbClr val="FFFF00"/>
                </a:highlight>
              </a:rPr>
              <a:t>-&gt;  </a:t>
            </a:r>
            <a:r>
              <a:rPr lang="ko-KR" altLang="en-US" b="1" dirty="0">
                <a:highlight>
                  <a:srgbClr val="FFFF00"/>
                </a:highlight>
              </a:rPr>
              <a:t>처리효율</a:t>
            </a:r>
            <a:r>
              <a:rPr lang="ko-KR" altLang="en-US" b="1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⬆</a:t>
            </a:r>
            <a:br>
              <a:rPr lang="en-US" altLang="ko-KR" b="1" dirty="0">
                <a:highlight>
                  <a:srgbClr val="FFFF00"/>
                </a:highlight>
              </a:rPr>
            </a:br>
            <a:r>
              <a:rPr lang="en-US" altLang="ko-KR" b="1" dirty="0">
                <a:highlight>
                  <a:srgbClr val="FFFF00"/>
                </a:highlight>
              </a:rPr>
              <a:t>BLAKE2, </a:t>
            </a:r>
            <a:r>
              <a:rPr lang="ko-KR" altLang="en-US" b="1" dirty="0">
                <a:highlight>
                  <a:srgbClr val="FFFF00"/>
                </a:highlight>
              </a:rPr>
              <a:t>내부 구조가 스칼라 연산에 최적화 </a:t>
            </a:r>
            <a:r>
              <a:rPr lang="en-US" altLang="ko-KR" b="1" dirty="0">
                <a:highlight>
                  <a:srgbClr val="FFFF00"/>
                </a:highlight>
              </a:rPr>
              <a:t>-&gt; </a:t>
            </a:r>
            <a:r>
              <a:rPr lang="ko-KR" altLang="en-US" b="1" dirty="0">
                <a:highlight>
                  <a:srgbClr val="FFFF00"/>
                </a:highlight>
              </a:rPr>
              <a:t>처리효율 </a:t>
            </a:r>
            <a:r>
              <a:rPr lang="ko-KR" altLang="en-US" b="1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⬇</a:t>
            </a:r>
            <a:endParaRPr lang="ko-KR" altLang="en-US" b="1" dirty="0">
              <a:highlight>
                <a:srgbClr val="FFFF00"/>
              </a:highlight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40448-619B-962E-9C06-F496E1863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pPr/>
              <a:t>10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648972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 해시 함수 </a:t>
            </a:r>
            <a:r>
              <a:rPr lang="en-US" altLang="ko-KR" dirty="0"/>
              <a:t>3~4MB</a:t>
            </a:r>
            <a:r>
              <a:rPr lang="ko-KR" altLang="en-US" dirty="0"/>
              <a:t>인데 </a:t>
            </a:r>
            <a:r>
              <a:rPr lang="en-US" altLang="ko-KR" dirty="0"/>
              <a:t>blake3</a:t>
            </a:r>
            <a:r>
              <a:rPr lang="ko-KR" altLang="en-US" dirty="0"/>
              <a:t>는 </a:t>
            </a:r>
            <a:r>
              <a:rPr lang="en-US" altLang="ko-KR" dirty="0"/>
              <a:t>1.33MB</a:t>
            </a:r>
            <a:r>
              <a:rPr lang="ko-KR" altLang="en-US" dirty="0"/>
              <a:t>로 최저 수준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pPr/>
              <a:t>11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325450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F448-88B9-FCEC-4CCC-33AFD98C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0F0E0-D22F-7786-4C9C-65324EDD4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076D25-05B9-1B09-5EDD-AADB3E84D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처리시간</a:t>
            </a:r>
            <a:r>
              <a:rPr lang="en-US" altLang="ko-KR" dirty="0"/>
              <a:t>, </a:t>
            </a:r>
            <a:r>
              <a:rPr lang="ko-KR" altLang="en-US" dirty="0"/>
              <a:t>메모리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제한된 리소스를 가진 임베디드 환경에서 적합한 알고리즘</a:t>
            </a: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스칼라 연산과 벡터 연산의 처리시간을 분석하였을 때</a:t>
            </a:r>
            <a:endParaRPr lang="en-US" altLang="ko-KR" dirty="0"/>
          </a:p>
          <a:p>
            <a:r>
              <a:rPr kumimoji="1" lang="en-US" altLang="ko-KR" dirty="0"/>
              <a:t>BLAKE3</a:t>
            </a:r>
            <a:r>
              <a:rPr kumimoji="1" lang="ko-KR" altLang="en-US" dirty="0"/>
              <a:t>는 벡터 연산에 최적화된 구조로 설계되었기 때문에 타 알고리즘 대비 </a:t>
            </a:r>
            <a:r>
              <a:rPr kumimoji="1" lang="en-US" altLang="ko-KR" dirty="0"/>
              <a:t>ARM </a:t>
            </a:r>
            <a:r>
              <a:rPr kumimoji="1" lang="ko-KR" altLang="en-US" dirty="0"/>
              <a:t>환경에서 높은 효율성을 보임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0C59E4-32BE-3A76-9477-C31A4567B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58192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207A-1265-2ED8-C881-03FC6A15E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0C8EAD-505B-4C99-B2D4-94B4C056F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20FF36-4FA9-F59F-AF38-40A2EAB2B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343535-87C4-F3DB-BCE5-3036F1F6B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00315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65F04-59FA-8DFB-FBF3-7CC9A847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53530-1F80-5241-4F47-DAF788175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74ADD0-9A8D-894B-4E92-63D7A4D00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959C8-3D24-43CA-38B1-DF1D15756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1085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F24A4-CAF1-7C56-0884-9F603E21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908E38-A7E1-07C9-00FF-B93B55C30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3DC7C6-7EBB-4A31-DBF6-C7CB51324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6572A-C614-4466-3ABE-EE0918926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20685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889E-6BDF-C55C-4B31-525E31C1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8B6216-0FC1-57E2-9B91-1B734EE2E3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B9F8FB-105F-79AD-AF73-A35BE60A1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1D766-F0DC-4089-0757-05F2425B3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F6D33-A416-FF43-B213-EFEAE893ED2C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00569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78E31-24D2-7F1E-64F7-4B1156A12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DBD914-8FB6-7140-66F1-7E21040DF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B011CA-BF38-1BC5-11FB-A3DE79D0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B38E37-759D-BBBB-965D-7DD15157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416F8D-37A1-B101-E761-DDC5C746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9632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29E9B-EAE8-52F3-A60F-32BB6225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6A786-5037-03AB-C3AE-1C0124E00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29579B-F7BF-C713-0724-A10ABD1F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E8893C-F6F4-7522-18C4-6F37A5A24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E338BD-1A24-F283-4EC0-7A358DF0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467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CD9F5-F892-9D2C-0EE0-C66F55A43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618BEF-74D5-6AEB-FE27-AACC54485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F522F-FE53-3B62-198B-4D75473A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6BAA7-F91A-EF9F-BA49-9162D78E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97B29F-3076-199A-F7B7-AF7092C4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2273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376DD-CE75-BC92-5172-900AD9BD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939CB-1CA2-D668-5267-82126F383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DD2312-32B1-5A10-143F-9DDCA6FEC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0E1388-A507-D59E-2B3A-E3BC6554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5A3C72-8607-742B-6903-4FBAD21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70BB0-175D-C95C-54A0-9749CDBE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7186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ECF07-8D1B-F186-4068-D65B60BC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B9DF9E-6846-29FF-CD1C-BC5C50C9A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73CCAA-44FE-81CF-85C6-301546298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DAA9DE-9B67-7CD2-BB7A-6F6B303A4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B1DF3B-7783-CF89-33CC-9DC1B4A79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F11FAC-C055-B9B4-2CBB-D4D4CDCA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1479F0-CE19-3EC6-F2C2-DBE2276D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4A8A90-73A2-51D3-C8A8-81B30924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920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25A9D-30FD-6264-C810-D25B5DBAF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749687-5A4E-B92B-A28B-71BADCED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4FCC68-AE29-5451-BAA6-AFDB5400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A369D8-43F8-C195-3606-CCABDD25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5757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E9F934-F762-360E-04E7-F31BEFBD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FD3EBA-FC69-D6B6-25CC-8A8F6869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5ECB2-E66E-57E2-3DF3-6C4B0220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6780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95E14-8B28-E564-44E2-9AE4624E4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CB614-E5C0-B849-BBFF-6A833DE9E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09F968-FE23-2AB5-B1B0-0F251A4FD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FC03B8-D6CB-6A96-B42C-36999AED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7644DE-79C4-5984-1808-38E35FDE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5E73CE-D8A8-28C1-7479-4EE1B0F6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86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E9B6E-721F-4497-1CF3-B64CB08C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05B20B-219C-64CD-391E-20E64270E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156654-9AC2-C98C-8B14-C20C03036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480730-F98E-EFA9-B313-685D24B1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1CAD2B-21D1-13D0-7525-DD1B8A8D5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F7A820-F371-33F2-A1E5-19AD0BA6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065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98DAF-5E92-7D8F-3D53-710722B7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225B52-5B98-A68B-0C91-4A45C82D6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ADC359-0DE9-71E5-C251-9E09BE0E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96E364-7E1C-51D1-0A9D-83882076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2BD610-A673-B087-29A5-0EB1D0B8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57721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2ADF72-8270-1E11-C70D-B8DC2A340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164D28-757B-4221-E0B4-807873CD3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8E6BDC-7364-98D0-0D34-8A85A5960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0E53E-FAE9-644D-A67D-D8BDBEB09C9A}" type="datetimeFigureOut">
              <a:rPr kumimoji="1" lang="ko-Kore-KR" altLang="en-US" smtClean="0"/>
              <a:t>2025. 5. 22.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03E877-ADA6-57D3-0893-ECECC3CA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83CA86-1285-B0D2-36EB-894CA895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3EA7C-F0F0-4842-886F-504CF4455B0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9578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653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일반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999" y="136524"/>
            <a:ext cx="11279999" cy="5405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 b="1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999" y="1003640"/>
            <a:ext cx="11280002" cy="5173319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tabLst>
                <a:tab pos="990600" algn="l"/>
              </a:tabLs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23758" y="6356350"/>
            <a:ext cx="2944484" cy="365125"/>
          </a:xfrm>
        </p:spPr>
        <p:txBody>
          <a:bodyPr/>
          <a:lstStyle>
            <a:lvl1pPr>
              <a:defRPr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Seunghyun Park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1613" y="6356350"/>
            <a:ext cx="1014387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4F15EC1-5731-40A4-B8D3-4F80B272D39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4923F5-C3FB-4E38-AC15-E4F30664FA2F}"/>
              </a:ext>
            </a:extLst>
          </p:cNvPr>
          <p:cNvCxnSpPr>
            <a:cxnSpLocks/>
          </p:cNvCxnSpPr>
          <p:nvPr userDrawn="1"/>
        </p:nvCxnSpPr>
        <p:spPr>
          <a:xfrm>
            <a:off x="456000" y="825549"/>
            <a:ext cx="11280000" cy="0"/>
          </a:xfrm>
          <a:prstGeom prst="line">
            <a:avLst/>
          </a:prstGeom>
          <a:ln w="19050">
            <a:solidFill>
              <a:srgbClr val="1739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BFB4CC-520D-4857-BC7D-19FB10364C37}"/>
              </a:ext>
            </a:extLst>
          </p:cNvPr>
          <p:cNvGrpSpPr/>
          <p:nvPr userDrawn="1"/>
        </p:nvGrpSpPr>
        <p:grpSpPr>
          <a:xfrm>
            <a:off x="598" y="191279"/>
            <a:ext cx="73025" cy="569141"/>
            <a:chOff x="374" y="131746"/>
            <a:chExt cx="45719" cy="56353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47E03A-F988-4CB1-8110-C23463E9AEDE}"/>
                </a:ext>
              </a:extLst>
            </p:cNvPr>
            <p:cNvSpPr/>
            <p:nvPr userDrawn="1"/>
          </p:nvSpPr>
          <p:spPr>
            <a:xfrm>
              <a:off x="374" y="272064"/>
              <a:ext cx="45719" cy="142581"/>
            </a:xfrm>
            <a:prstGeom prst="rect">
              <a:avLst/>
            </a:prstGeom>
            <a:solidFill>
              <a:srgbClr val="00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F3FF920-E7A0-45D7-8AB5-4479705ACE30}"/>
                </a:ext>
              </a:extLst>
            </p:cNvPr>
            <p:cNvSpPr/>
            <p:nvPr userDrawn="1"/>
          </p:nvSpPr>
          <p:spPr>
            <a:xfrm>
              <a:off x="374" y="131746"/>
              <a:ext cx="45719" cy="14258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75A405-4EDC-40F3-BD93-35AA786DFFAB}"/>
                </a:ext>
              </a:extLst>
            </p:cNvPr>
            <p:cNvSpPr/>
            <p:nvPr userDrawn="1"/>
          </p:nvSpPr>
          <p:spPr>
            <a:xfrm>
              <a:off x="374" y="412381"/>
              <a:ext cx="45719" cy="142581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A83AA36-63E1-481E-B567-5AC25F797ACB}"/>
                </a:ext>
              </a:extLst>
            </p:cNvPr>
            <p:cNvSpPr/>
            <p:nvPr userDrawn="1"/>
          </p:nvSpPr>
          <p:spPr>
            <a:xfrm>
              <a:off x="374" y="552698"/>
              <a:ext cx="45719" cy="142581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EEA97FB4-1596-4DF2-A484-27C40458D7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49" y="6325476"/>
            <a:ext cx="997537" cy="3962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2B66BF-0C9B-E6E7-F93D-50C9726F73EB}"/>
              </a:ext>
            </a:extLst>
          </p:cNvPr>
          <p:cNvSpPr txBox="1"/>
          <p:nvPr userDrawn="1"/>
        </p:nvSpPr>
        <p:spPr>
          <a:xfrm>
            <a:off x="1574013" y="6334286"/>
            <a:ext cx="1076197" cy="33855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1100" b="0" i="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1F99"/>
                </a:solidFill>
                <a:effectLst/>
                <a:latin typeface="Malgun Gothic" panose="020B0503020000020004" pitchFamily="34" charset="-127"/>
                <a:ea typeface="Microsoft Himalaya" pitchFamily="2" charset="0"/>
                <a:cs typeface="Big Caslon Medium" panose="02000603090000020003" pitchFamily="2" charset="-79"/>
              </a:rPr>
              <a:t>Mobility &amp;</a:t>
            </a:r>
          </a:p>
          <a:p>
            <a:pPr algn="l">
              <a:lnSpc>
                <a:spcPct val="100000"/>
              </a:lnSpc>
            </a:pPr>
            <a:r>
              <a:rPr lang="en-US" altLang="ko-KR" sz="1100" b="0" i="0" spc="-3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1F99"/>
                </a:solidFill>
                <a:effectLst/>
                <a:latin typeface="Malgun Gothic" panose="020B0503020000020004" pitchFamily="34" charset="-127"/>
                <a:ea typeface="Microsoft Himalaya" pitchFamily="2" charset="0"/>
                <a:cs typeface="Big Caslon Medium" panose="02000603090000020003" pitchFamily="2" charset="-79"/>
              </a:rPr>
              <a:t>Cybersecurity Lab.</a:t>
            </a:r>
            <a:endParaRPr lang="ko-KR" altLang="en-US" sz="1100" b="0" i="0" spc="-3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1F99"/>
              </a:solidFill>
              <a:effectLst/>
              <a:latin typeface="Malgun Gothic" panose="020B0503020000020004" pitchFamily="34" charset="-127"/>
              <a:ea typeface="맑은 고딕" panose="020B0503020000020004" pitchFamily="50" charset="-127"/>
              <a:cs typeface="Big Caslon Medium" panose="0200060309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21247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그림 삽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999" y="136524"/>
            <a:ext cx="11279999" cy="5405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 b="1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999" y="1003640"/>
            <a:ext cx="6221026" cy="5173319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tabLst>
                <a:tab pos="990600" algn="l"/>
              </a:tabLs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23758" y="6356350"/>
            <a:ext cx="2944484" cy="365125"/>
          </a:xfrm>
        </p:spPr>
        <p:txBody>
          <a:bodyPr/>
          <a:lstStyle>
            <a:lvl1pPr>
              <a:defRPr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Seunghyun Park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1613" y="6356350"/>
            <a:ext cx="1014387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4F15EC1-5731-40A4-B8D3-4F80B272D39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4923F5-C3FB-4E38-AC15-E4F30664FA2F}"/>
              </a:ext>
            </a:extLst>
          </p:cNvPr>
          <p:cNvCxnSpPr>
            <a:cxnSpLocks/>
          </p:cNvCxnSpPr>
          <p:nvPr userDrawn="1"/>
        </p:nvCxnSpPr>
        <p:spPr>
          <a:xfrm>
            <a:off x="456000" y="825549"/>
            <a:ext cx="11280000" cy="0"/>
          </a:xfrm>
          <a:prstGeom prst="line">
            <a:avLst/>
          </a:prstGeom>
          <a:ln w="19050">
            <a:solidFill>
              <a:srgbClr val="1739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BFB4CC-520D-4857-BC7D-19FB10364C37}"/>
              </a:ext>
            </a:extLst>
          </p:cNvPr>
          <p:cNvGrpSpPr/>
          <p:nvPr userDrawn="1"/>
        </p:nvGrpSpPr>
        <p:grpSpPr>
          <a:xfrm>
            <a:off x="598" y="191279"/>
            <a:ext cx="73025" cy="569141"/>
            <a:chOff x="374" y="131746"/>
            <a:chExt cx="45719" cy="56353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47E03A-F988-4CB1-8110-C23463E9AEDE}"/>
                </a:ext>
              </a:extLst>
            </p:cNvPr>
            <p:cNvSpPr/>
            <p:nvPr userDrawn="1"/>
          </p:nvSpPr>
          <p:spPr>
            <a:xfrm>
              <a:off x="374" y="272064"/>
              <a:ext cx="45719" cy="142581"/>
            </a:xfrm>
            <a:prstGeom prst="rect">
              <a:avLst/>
            </a:prstGeom>
            <a:solidFill>
              <a:srgbClr val="00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F3FF920-E7A0-45D7-8AB5-4479705ACE30}"/>
                </a:ext>
              </a:extLst>
            </p:cNvPr>
            <p:cNvSpPr/>
            <p:nvPr userDrawn="1"/>
          </p:nvSpPr>
          <p:spPr>
            <a:xfrm>
              <a:off x="374" y="131746"/>
              <a:ext cx="45719" cy="14258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75A405-4EDC-40F3-BD93-35AA786DFFAB}"/>
                </a:ext>
              </a:extLst>
            </p:cNvPr>
            <p:cNvSpPr/>
            <p:nvPr userDrawn="1"/>
          </p:nvSpPr>
          <p:spPr>
            <a:xfrm>
              <a:off x="374" y="412381"/>
              <a:ext cx="45719" cy="142581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A83AA36-63E1-481E-B567-5AC25F797ACB}"/>
                </a:ext>
              </a:extLst>
            </p:cNvPr>
            <p:cNvSpPr/>
            <p:nvPr userDrawn="1"/>
          </p:nvSpPr>
          <p:spPr>
            <a:xfrm>
              <a:off x="374" y="552698"/>
              <a:ext cx="45719" cy="142581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EEA97FB4-1596-4DF2-A484-27C40458D7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49" y="6325476"/>
            <a:ext cx="997537" cy="3962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831FD1-4B40-C004-F28A-322E610769D7}"/>
              </a:ext>
            </a:extLst>
          </p:cNvPr>
          <p:cNvSpPr txBox="1"/>
          <p:nvPr userDrawn="1"/>
        </p:nvSpPr>
        <p:spPr>
          <a:xfrm>
            <a:off x="1574013" y="6334286"/>
            <a:ext cx="1076197" cy="33855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1100" b="0" i="0" spc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1F99"/>
                </a:solidFill>
                <a:effectLst/>
                <a:latin typeface="Malgun Gothic" panose="020B0503020000020004" pitchFamily="34" charset="-127"/>
                <a:ea typeface="Microsoft Himalaya" pitchFamily="2" charset="0"/>
                <a:cs typeface="Big Caslon Medium" panose="02000603090000020003" pitchFamily="2" charset="-79"/>
              </a:rPr>
              <a:t>Mobility &amp;</a:t>
            </a:r>
          </a:p>
          <a:p>
            <a:pPr algn="l">
              <a:lnSpc>
                <a:spcPct val="100000"/>
              </a:lnSpc>
            </a:pPr>
            <a:r>
              <a:rPr lang="en-US" altLang="ko-KR" sz="1100" b="0" i="0" spc="-3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1F99"/>
                </a:solidFill>
                <a:effectLst/>
                <a:latin typeface="Malgun Gothic" panose="020B0503020000020004" pitchFamily="34" charset="-127"/>
                <a:ea typeface="Microsoft Himalaya" pitchFamily="2" charset="0"/>
                <a:cs typeface="Big Caslon Medium" panose="02000603090000020003" pitchFamily="2" charset="-79"/>
              </a:rPr>
              <a:t>Cybersecurity Lab.</a:t>
            </a:r>
            <a:endParaRPr lang="ko-KR" altLang="en-US" sz="1100" b="0" i="0" spc="-3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1F99"/>
              </a:solidFill>
              <a:effectLst/>
              <a:latin typeface="Malgun Gothic" panose="020B0503020000020004" pitchFamily="34" charset="-127"/>
              <a:ea typeface="맑은 고딕" panose="020B0503020000020004" pitchFamily="50" charset="-127"/>
              <a:cs typeface="Big Caslon Medium" panose="020006030900000200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00327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주제 중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999" y="136524"/>
            <a:ext cx="11279999" cy="5405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 b="1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999" y="1003640"/>
            <a:ext cx="11280002" cy="517331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990600" algn="l"/>
              </a:tabLs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23758" y="6356350"/>
            <a:ext cx="2944484" cy="365125"/>
          </a:xfrm>
        </p:spPr>
        <p:txBody>
          <a:bodyPr/>
          <a:lstStyle>
            <a:lvl1pPr>
              <a:defRPr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Seunghyun Park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1613" y="6356350"/>
            <a:ext cx="1014387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4F15EC1-5731-40A4-B8D3-4F80B272D39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4923F5-C3FB-4E38-AC15-E4F30664FA2F}"/>
              </a:ext>
            </a:extLst>
          </p:cNvPr>
          <p:cNvCxnSpPr>
            <a:cxnSpLocks/>
          </p:cNvCxnSpPr>
          <p:nvPr userDrawn="1"/>
        </p:nvCxnSpPr>
        <p:spPr>
          <a:xfrm>
            <a:off x="456000" y="825549"/>
            <a:ext cx="11280000" cy="0"/>
          </a:xfrm>
          <a:prstGeom prst="line">
            <a:avLst/>
          </a:prstGeom>
          <a:ln w="19050">
            <a:solidFill>
              <a:srgbClr val="1739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BFB4CC-520D-4857-BC7D-19FB10364C37}"/>
              </a:ext>
            </a:extLst>
          </p:cNvPr>
          <p:cNvGrpSpPr/>
          <p:nvPr userDrawn="1"/>
        </p:nvGrpSpPr>
        <p:grpSpPr>
          <a:xfrm>
            <a:off x="598" y="191279"/>
            <a:ext cx="73025" cy="569141"/>
            <a:chOff x="374" y="131746"/>
            <a:chExt cx="45719" cy="56353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47E03A-F988-4CB1-8110-C23463E9AEDE}"/>
                </a:ext>
              </a:extLst>
            </p:cNvPr>
            <p:cNvSpPr/>
            <p:nvPr userDrawn="1"/>
          </p:nvSpPr>
          <p:spPr>
            <a:xfrm>
              <a:off x="374" y="272064"/>
              <a:ext cx="45719" cy="142581"/>
            </a:xfrm>
            <a:prstGeom prst="rect">
              <a:avLst/>
            </a:prstGeom>
            <a:solidFill>
              <a:srgbClr val="00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F3FF920-E7A0-45D7-8AB5-4479705ACE30}"/>
                </a:ext>
              </a:extLst>
            </p:cNvPr>
            <p:cNvSpPr/>
            <p:nvPr userDrawn="1"/>
          </p:nvSpPr>
          <p:spPr>
            <a:xfrm>
              <a:off x="374" y="131746"/>
              <a:ext cx="45719" cy="14258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75A405-4EDC-40F3-BD93-35AA786DFFAB}"/>
                </a:ext>
              </a:extLst>
            </p:cNvPr>
            <p:cNvSpPr/>
            <p:nvPr userDrawn="1"/>
          </p:nvSpPr>
          <p:spPr>
            <a:xfrm>
              <a:off x="374" y="412381"/>
              <a:ext cx="45719" cy="142581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A83AA36-63E1-481E-B567-5AC25F797ACB}"/>
                </a:ext>
              </a:extLst>
            </p:cNvPr>
            <p:cNvSpPr/>
            <p:nvPr userDrawn="1"/>
          </p:nvSpPr>
          <p:spPr>
            <a:xfrm>
              <a:off x="374" y="552698"/>
              <a:ext cx="45719" cy="142581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0DB12640-8B89-B5C2-CE3A-24CA9D6752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937" t="6001" r="4801" b="22947"/>
          <a:stretch/>
        </p:blipFill>
        <p:spPr>
          <a:xfrm>
            <a:off x="455999" y="6311475"/>
            <a:ext cx="1228725" cy="38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0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주제 중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999" y="136524"/>
            <a:ext cx="11279999" cy="5405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 b="1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999" y="1003640"/>
            <a:ext cx="11280002" cy="517331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628650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9625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tabLst>
                <a:tab pos="990600" algn="l"/>
              </a:tabLs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990600" indent="-1809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 b="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23758" y="6356350"/>
            <a:ext cx="2944484" cy="365125"/>
          </a:xfrm>
        </p:spPr>
        <p:txBody>
          <a:bodyPr/>
          <a:lstStyle>
            <a:lvl1pPr>
              <a:defRPr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Seunghyun Park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1613" y="6356350"/>
            <a:ext cx="1014387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4F15EC1-5731-40A4-B8D3-4F80B272D39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4923F5-C3FB-4E38-AC15-E4F30664FA2F}"/>
              </a:ext>
            </a:extLst>
          </p:cNvPr>
          <p:cNvCxnSpPr>
            <a:cxnSpLocks/>
          </p:cNvCxnSpPr>
          <p:nvPr userDrawn="1"/>
        </p:nvCxnSpPr>
        <p:spPr>
          <a:xfrm>
            <a:off x="456000" y="825549"/>
            <a:ext cx="11280000" cy="0"/>
          </a:xfrm>
          <a:prstGeom prst="line">
            <a:avLst/>
          </a:prstGeom>
          <a:ln w="19050">
            <a:solidFill>
              <a:srgbClr val="1739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BFB4CC-520D-4857-BC7D-19FB10364C37}"/>
              </a:ext>
            </a:extLst>
          </p:cNvPr>
          <p:cNvGrpSpPr/>
          <p:nvPr userDrawn="1"/>
        </p:nvGrpSpPr>
        <p:grpSpPr>
          <a:xfrm>
            <a:off x="598" y="191279"/>
            <a:ext cx="73025" cy="569141"/>
            <a:chOff x="374" y="131746"/>
            <a:chExt cx="45719" cy="563533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47E03A-F988-4CB1-8110-C23463E9AEDE}"/>
                </a:ext>
              </a:extLst>
            </p:cNvPr>
            <p:cNvSpPr/>
            <p:nvPr userDrawn="1"/>
          </p:nvSpPr>
          <p:spPr>
            <a:xfrm>
              <a:off x="374" y="272064"/>
              <a:ext cx="45719" cy="142581"/>
            </a:xfrm>
            <a:prstGeom prst="rect">
              <a:avLst/>
            </a:prstGeom>
            <a:solidFill>
              <a:srgbClr val="003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F3FF920-E7A0-45D7-8AB5-4479705ACE30}"/>
                </a:ext>
              </a:extLst>
            </p:cNvPr>
            <p:cNvSpPr/>
            <p:nvPr userDrawn="1"/>
          </p:nvSpPr>
          <p:spPr>
            <a:xfrm>
              <a:off x="374" y="131746"/>
              <a:ext cx="45719" cy="14258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75A405-4EDC-40F3-BD93-35AA786DFFAB}"/>
                </a:ext>
              </a:extLst>
            </p:cNvPr>
            <p:cNvSpPr/>
            <p:nvPr userDrawn="1"/>
          </p:nvSpPr>
          <p:spPr>
            <a:xfrm>
              <a:off x="374" y="412381"/>
              <a:ext cx="45719" cy="142581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A83AA36-63E1-481E-B567-5AC25F797ACB}"/>
                </a:ext>
              </a:extLst>
            </p:cNvPr>
            <p:cNvSpPr/>
            <p:nvPr userDrawn="1"/>
          </p:nvSpPr>
          <p:spPr>
            <a:xfrm>
              <a:off x="374" y="552698"/>
              <a:ext cx="45719" cy="142581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7866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806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279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0037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079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360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826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7439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4289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43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B4D557-5914-65FB-DAB2-FD3C8069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3F54F0-F991-CD98-7455-D093E487F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94947C-6003-99F4-FD6C-C47B73A80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Malgun Gothic" panose="020B0503020000020004" pitchFamily="34" charset="-127"/>
              </a:defRPr>
            </a:lvl1pPr>
          </a:lstStyle>
          <a:p>
            <a:fld id="{20D0E53E-FAE9-644D-A67D-D8BDBEB09C9A}" type="datetimeFigureOut">
              <a:rPr kumimoji="1" lang="ko-Kore-KR" altLang="en-US" smtClean="0"/>
              <a:pPr/>
              <a:t>2025. 5. 22.</a:t>
            </a:fld>
            <a:endParaRPr kumimoji="1" lang="ko-Kore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70E3A-A4E9-7829-F287-76616F865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Malgun Gothic" panose="020B0503020000020004" pitchFamily="34" charset="-127"/>
              </a:defRPr>
            </a:lvl1pPr>
          </a:lstStyle>
          <a:p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3E24E8-26D6-167B-F95F-582D062D3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Malgun Gothic" panose="020B0503020000020004" pitchFamily="34" charset="-127"/>
              </a:defRPr>
            </a:lvl1pPr>
          </a:lstStyle>
          <a:p>
            <a:fld id="{17C3EA7C-F0F0-4842-886F-504CF4455B0F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11407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algun Gothic" panose="020B0503020000020004" pitchFamily="34" charset="-12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Seunghyun Park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4F15EC1-5731-40A4-B8D3-4F80B272D39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392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5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chart" Target="../charts/chart8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285A5-DB24-483B-B653-123DEF654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1495286"/>
            <a:ext cx="9982200" cy="1933714"/>
          </a:xfrm>
        </p:spPr>
        <p:txBody>
          <a:bodyPr vert="horz" lIns="0" tIns="0" rIns="0" bIns="0" rtlCol="0" anchor="ctr">
            <a:no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</a:pPr>
            <a:r>
              <a:rPr lang="ko-KR" altLang="en-US" sz="3600" b="1" dirty="0">
                <a:solidFill>
                  <a:srgbClr val="0000FF"/>
                </a:solidFill>
                <a:ea typeface="+mn-ea"/>
                <a:cs typeface="Tahoma" panose="020B0604030504040204" pitchFamily="34" charset="0"/>
              </a:rPr>
              <a:t>자동차 </a:t>
            </a:r>
            <a:r>
              <a:rPr lang="en-US" altLang="ko-KR" sz="3600" b="1" dirty="0">
                <a:solidFill>
                  <a:srgbClr val="0000FF"/>
                </a:solidFill>
                <a:ea typeface="+mn-ea"/>
                <a:cs typeface="Tahoma" panose="020B0604030504040204" pitchFamily="34" charset="0"/>
              </a:rPr>
              <a:t>ECU </a:t>
            </a:r>
            <a:r>
              <a:rPr lang="ko-KR" altLang="en-US" sz="3600" b="1" dirty="0">
                <a:solidFill>
                  <a:srgbClr val="0000FF"/>
                </a:solidFill>
                <a:ea typeface="+mn-ea"/>
                <a:cs typeface="Tahoma" panose="020B0604030504040204" pitchFamily="34" charset="0"/>
              </a:rPr>
              <a:t>환경에서의 소프트웨어</a:t>
            </a:r>
            <a:br>
              <a:rPr lang="en-US" altLang="ko-KR" sz="3600" b="1" dirty="0">
                <a:solidFill>
                  <a:srgbClr val="0000FF"/>
                </a:solidFill>
                <a:ea typeface="+mn-ea"/>
                <a:cs typeface="Tahoma" panose="020B0604030504040204" pitchFamily="34" charset="0"/>
              </a:rPr>
            </a:br>
            <a:r>
              <a:rPr lang="ko-KR" altLang="en-US" sz="3600" b="1" dirty="0">
                <a:solidFill>
                  <a:srgbClr val="0000FF"/>
                </a:solidFill>
                <a:ea typeface="+mn-ea"/>
                <a:cs typeface="Tahoma" panose="020B0604030504040204" pitchFamily="34" charset="0"/>
              </a:rPr>
              <a:t>업데이트를 위한 해시 함수 성능 평가</a:t>
            </a:r>
            <a:endParaRPr lang="ko-KR" altLang="en-US" sz="2000" b="1" dirty="0">
              <a:solidFill>
                <a:srgbClr val="0000FF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062DB2-3F8A-4D71-8ED2-F3C172F30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5869" y="4013889"/>
            <a:ext cx="6860263" cy="827553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2800" b="1" dirty="0">
                <a:ea typeface="Malgun Gothic" panose="020B0503020000020004" pitchFamily="34" charset="-127"/>
                <a:cs typeface="Tahoma" panose="020B0604030504040204" pitchFamily="34" charset="0"/>
              </a:rPr>
              <a:t>발표자</a:t>
            </a:r>
            <a:r>
              <a:rPr lang="en-US" altLang="ko-KR" sz="2800" b="1" dirty="0"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ko-KR" altLang="en-US" sz="2800" b="1" dirty="0">
                <a:ea typeface="Malgun Gothic" panose="020B0503020000020004" pitchFamily="34" charset="-127"/>
                <a:cs typeface="Tahoma" panose="020B0604030504040204" pitchFamily="34" charset="0"/>
              </a:rPr>
              <a:t>박준희</a:t>
            </a:r>
            <a:endParaRPr lang="en-US" altLang="ko-KR" sz="2000" b="1" dirty="0"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D420BD15-FC02-877A-7342-D946197AFD7F}"/>
              </a:ext>
            </a:extLst>
          </p:cNvPr>
          <p:cNvSpPr txBox="1">
            <a:spLocks/>
          </p:cNvSpPr>
          <p:nvPr/>
        </p:nvSpPr>
        <p:spPr>
          <a:xfrm>
            <a:off x="2780169" y="4651452"/>
            <a:ext cx="6860263" cy="598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ko-KR" sz="1800" b="1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Department of Computer Engineering,</a:t>
            </a:r>
            <a:r>
              <a:rPr lang="ko-KR" altLang="en-US" sz="1800" b="1" dirty="0">
                <a:latin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800" b="1" dirty="0" err="1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Hansung</a:t>
            </a:r>
            <a:r>
              <a:rPr lang="en-US" altLang="ko-KR" sz="1800" b="1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University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3D4ABE-A599-ADCE-B246-A133AD8D9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467" y="438927"/>
            <a:ext cx="804917" cy="756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F08A430-F9D3-E3F5-0482-4726863E63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510" b="18986"/>
          <a:stretch/>
        </p:blipFill>
        <p:spPr>
          <a:xfrm>
            <a:off x="8959687" y="670686"/>
            <a:ext cx="1791398" cy="524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9209AC-B0CE-133C-633D-1598F4AC4DC4}"/>
              </a:ext>
            </a:extLst>
          </p:cNvPr>
          <p:cNvSpPr txBox="1"/>
          <p:nvPr/>
        </p:nvSpPr>
        <p:spPr>
          <a:xfrm>
            <a:off x="9989277" y="6267331"/>
            <a:ext cx="1495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1F9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2025.</a:t>
            </a:r>
            <a:r>
              <a:rPr lang="ko-KR" altLang="en-US" sz="1400" dirty="0">
                <a:solidFill>
                  <a:srgbClr val="001F99"/>
                </a:solidFill>
                <a:latin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400" dirty="0">
                <a:solidFill>
                  <a:srgbClr val="001F9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5.</a:t>
            </a:r>
            <a:r>
              <a:rPr lang="ko-KR" altLang="en-US" sz="1400" dirty="0">
                <a:solidFill>
                  <a:srgbClr val="001F99"/>
                </a:solidFill>
                <a:latin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400" dirty="0">
                <a:solidFill>
                  <a:srgbClr val="001F9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23.</a:t>
            </a:r>
            <a:r>
              <a:rPr lang="ko-KR" altLang="en-US" sz="1400" dirty="0">
                <a:solidFill>
                  <a:srgbClr val="001F99"/>
                </a:solidFill>
                <a:latin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400" dirty="0">
                <a:solidFill>
                  <a:srgbClr val="001F9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(Fri)</a:t>
            </a:r>
            <a:endParaRPr lang="ko-KR" altLang="en-US" sz="1400" dirty="0">
              <a:solidFill>
                <a:srgbClr val="001F99"/>
              </a:solidFill>
              <a:latin typeface="Malgun Gothic" panose="020B0503020000020004" pitchFamily="34" charset="-127"/>
              <a:cs typeface="Tahoma" panose="020B060403050404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F3F1A7C-334E-C7C4-6B55-A028FAC01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28" y="393980"/>
            <a:ext cx="1432684" cy="8458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D674FED-43CE-1E80-F518-1B1A2108EAC3}"/>
              </a:ext>
            </a:extLst>
          </p:cNvPr>
          <p:cNvSpPr/>
          <p:nvPr/>
        </p:nvSpPr>
        <p:spPr>
          <a:xfrm>
            <a:off x="8959687" y="438927"/>
            <a:ext cx="1791398" cy="845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63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A3A8E5C-2E21-44CC-AF65-2306B45D5AB7}"/>
              </a:ext>
            </a:extLst>
          </p:cNvPr>
          <p:cNvGrpSpPr/>
          <p:nvPr/>
        </p:nvGrpSpPr>
        <p:grpSpPr>
          <a:xfrm>
            <a:off x="6344016" y="1204912"/>
            <a:ext cx="4589595" cy="584774"/>
            <a:chOff x="-83740" y="181058"/>
            <a:chExt cx="488489" cy="19169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DC8F5E1-981F-4F28-A44E-7C6ACC40291F}"/>
                </a:ext>
              </a:extLst>
            </p:cNvPr>
            <p:cNvSpPr txBox="1"/>
            <p:nvPr/>
          </p:nvSpPr>
          <p:spPr>
            <a:xfrm>
              <a:off x="-83740" y="192372"/>
              <a:ext cx="64014" cy="17151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Malgun Gothic" panose="020B0503020000020004" pitchFamily="34" charset="-127"/>
                  <a:cs typeface="Poppins SemiBold" panose="00000700000000000000" pitchFamily="2" charset="0"/>
                </a:rPr>
                <a:t>01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FF"/>
                </a:solidFill>
                <a:latin typeface="Malgun Gothic" panose="020B0503020000020004" pitchFamily="34" charset="-127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112A168-1A65-4C2E-8EA8-3A699F34F635}"/>
                </a:ext>
              </a:extLst>
            </p:cNvPr>
            <p:cNvSpPr txBox="1"/>
            <p:nvPr/>
          </p:nvSpPr>
          <p:spPr>
            <a:xfrm>
              <a:off x="38126" y="181058"/>
              <a:ext cx="366623" cy="19169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32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연구 배경</a:t>
              </a: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D9244A6-0FFB-43C0-8407-7CC4D565B92A}"/>
              </a:ext>
            </a:extLst>
          </p:cNvPr>
          <p:cNvCxnSpPr/>
          <p:nvPr/>
        </p:nvCxnSpPr>
        <p:spPr>
          <a:xfrm>
            <a:off x="552450" y="6292850"/>
            <a:ext cx="11087100" cy="0"/>
          </a:xfrm>
          <a:prstGeom prst="line">
            <a:avLst/>
          </a:prstGeom>
          <a:noFill/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DE4D937-DADB-4608-A09D-226C7F6AB32D}"/>
              </a:ext>
            </a:extLst>
          </p:cNvPr>
          <p:cNvCxnSpPr>
            <a:cxnSpLocks/>
          </p:cNvCxnSpPr>
          <p:nvPr/>
        </p:nvCxnSpPr>
        <p:spPr>
          <a:xfrm flipV="1">
            <a:off x="6086475" y="790400"/>
            <a:ext cx="0" cy="5277201"/>
          </a:xfrm>
          <a:prstGeom prst="line">
            <a:avLst/>
          </a:prstGeom>
          <a:noFill/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D8CEB63-0E97-4B88-AFF4-8A9A9FBCBF52}"/>
              </a:ext>
            </a:extLst>
          </p:cNvPr>
          <p:cNvCxnSpPr/>
          <p:nvPr/>
        </p:nvCxnSpPr>
        <p:spPr>
          <a:xfrm>
            <a:off x="552450" y="565150"/>
            <a:ext cx="11087100" cy="0"/>
          </a:xfrm>
          <a:prstGeom prst="line">
            <a:avLst/>
          </a:prstGeom>
          <a:noFill/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67454C-13BB-44FB-8D0B-132E7F86FC83}"/>
              </a:ext>
            </a:extLst>
          </p:cNvPr>
          <p:cNvSpPr txBox="1"/>
          <p:nvPr/>
        </p:nvSpPr>
        <p:spPr>
          <a:xfrm>
            <a:off x="1359342" y="2148636"/>
            <a:ext cx="4287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자동차 </a:t>
            </a:r>
            <a:r>
              <a:rPr lang="en-US" altLang="ko-KR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ECU</a:t>
            </a:r>
            <a:r>
              <a:rPr lang="ko-KR" altLang="en-US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환경의 소프트웨어 </a:t>
            </a:r>
            <a:endParaRPr lang="en-US" altLang="ko-KR" b="1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ko-KR" altLang="en-US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업데이트를 </a:t>
            </a:r>
            <a:r>
              <a:rPr lang="ko-KR" altLang="en-US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Malgun Gothic" panose="020B0503020000020004" pitchFamily="34" charset="-127"/>
                <a:ea typeface="Spoqa Han Sans Neo Bold" panose="020B0800000000000000" pitchFamily="34" charset="-127"/>
              </a:rPr>
              <a:t>위한 해시 함수 성능 평가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33F22F-CA53-943F-D721-69B91A768181}"/>
              </a:ext>
            </a:extLst>
          </p:cNvPr>
          <p:cNvGrpSpPr/>
          <p:nvPr/>
        </p:nvGrpSpPr>
        <p:grpSpPr>
          <a:xfrm>
            <a:off x="6344017" y="2025831"/>
            <a:ext cx="3448826" cy="584774"/>
            <a:chOff x="-83740" y="182283"/>
            <a:chExt cx="639179" cy="19169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5138F4-E872-3C73-D957-9E845E5695EA}"/>
                </a:ext>
              </a:extLst>
            </p:cNvPr>
            <p:cNvSpPr txBox="1"/>
            <p:nvPr/>
          </p:nvSpPr>
          <p:spPr>
            <a:xfrm>
              <a:off x="-83740" y="192372"/>
              <a:ext cx="111468" cy="17151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Malgun Gothic" panose="020B0503020000020004" pitchFamily="34" charset="-127"/>
                  <a:cs typeface="Poppins SemiBold" panose="00000700000000000000" pitchFamily="2" charset="0"/>
                </a:rPr>
                <a:t>02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FF"/>
                </a:solidFill>
                <a:latin typeface="Malgun Gothic" panose="020B0503020000020004" pitchFamily="34" charset="-127"/>
                <a:cs typeface="Poppins SemiBold" panose="000007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9BD593-8260-CC4F-7A1C-82BC72B4DC88}"/>
                </a:ext>
              </a:extLst>
            </p:cNvPr>
            <p:cNvSpPr txBox="1"/>
            <p:nvPr/>
          </p:nvSpPr>
          <p:spPr>
            <a:xfrm>
              <a:off x="128464" y="182283"/>
              <a:ext cx="426975" cy="1916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32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구조적 특성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76C78F2-7C0F-0F47-8D00-A933A4C287B8}"/>
              </a:ext>
            </a:extLst>
          </p:cNvPr>
          <p:cNvGrpSpPr/>
          <p:nvPr/>
        </p:nvGrpSpPr>
        <p:grpSpPr>
          <a:xfrm>
            <a:off x="6344016" y="2885062"/>
            <a:ext cx="3051280" cy="584774"/>
            <a:chOff x="-83740" y="182283"/>
            <a:chExt cx="565501" cy="1916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F272C2-3012-6E86-2474-14ACA1B26412}"/>
                </a:ext>
              </a:extLst>
            </p:cNvPr>
            <p:cNvSpPr txBox="1"/>
            <p:nvPr/>
          </p:nvSpPr>
          <p:spPr>
            <a:xfrm>
              <a:off x="-83740" y="192372"/>
              <a:ext cx="111468" cy="17151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Malgun Gothic" panose="020B0503020000020004" pitchFamily="34" charset="-127"/>
                  <a:cs typeface="Poppins SemiBold" panose="00000700000000000000" pitchFamily="2" charset="0"/>
                </a:rPr>
                <a:t>03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FF"/>
                </a:solidFill>
                <a:latin typeface="Malgun Gothic" panose="020B0503020000020004" pitchFamily="34" charset="-127"/>
                <a:cs typeface="Poppins SemiBold" panose="000007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9C5E77-2CC8-C7CF-9D70-C1A728F5FC0A}"/>
                </a:ext>
              </a:extLst>
            </p:cNvPr>
            <p:cNvSpPr txBox="1"/>
            <p:nvPr/>
          </p:nvSpPr>
          <p:spPr>
            <a:xfrm>
              <a:off x="128464" y="182283"/>
              <a:ext cx="353297" cy="1916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32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연구 방법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57F622A-DECA-33DE-D9B9-8D9282345AF2}"/>
              </a:ext>
            </a:extLst>
          </p:cNvPr>
          <p:cNvGrpSpPr/>
          <p:nvPr/>
        </p:nvGrpSpPr>
        <p:grpSpPr>
          <a:xfrm>
            <a:off x="6344016" y="3702194"/>
            <a:ext cx="3051280" cy="584774"/>
            <a:chOff x="-83740" y="182283"/>
            <a:chExt cx="565501" cy="1916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BB534B6-9AFF-BF43-3A43-39EE57670DED}"/>
                </a:ext>
              </a:extLst>
            </p:cNvPr>
            <p:cNvSpPr txBox="1"/>
            <p:nvPr/>
          </p:nvSpPr>
          <p:spPr>
            <a:xfrm>
              <a:off x="-83740" y="192372"/>
              <a:ext cx="111468" cy="17151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Malgun Gothic" panose="020B0503020000020004" pitchFamily="34" charset="-127"/>
                  <a:cs typeface="Poppins SemiBold" panose="00000700000000000000" pitchFamily="2" charset="0"/>
                </a:rPr>
                <a:t>04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FF"/>
                </a:solidFill>
                <a:latin typeface="Malgun Gothic" panose="020B0503020000020004" pitchFamily="34" charset="-127"/>
                <a:cs typeface="Poppins SemiBold" panose="000007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A3172E-C9BC-1D0B-D8AD-E378C2D620B7}"/>
                </a:ext>
              </a:extLst>
            </p:cNvPr>
            <p:cNvSpPr txBox="1"/>
            <p:nvPr/>
          </p:nvSpPr>
          <p:spPr>
            <a:xfrm>
              <a:off x="128464" y="182283"/>
              <a:ext cx="353297" cy="1916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32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연구 결과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CE4E47D-EF0C-976F-6009-135D8847A377}"/>
              </a:ext>
            </a:extLst>
          </p:cNvPr>
          <p:cNvGrpSpPr/>
          <p:nvPr/>
        </p:nvGrpSpPr>
        <p:grpSpPr>
          <a:xfrm>
            <a:off x="6344018" y="4522819"/>
            <a:ext cx="2124744" cy="584775"/>
            <a:chOff x="-83740" y="182283"/>
            <a:chExt cx="393784" cy="1916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5FCE8D-F942-2FE3-E8D2-C497434C1E6B}"/>
                </a:ext>
              </a:extLst>
            </p:cNvPr>
            <p:cNvSpPr txBox="1"/>
            <p:nvPr/>
          </p:nvSpPr>
          <p:spPr>
            <a:xfrm>
              <a:off x="-83740" y="192372"/>
              <a:ext cx="111468" cy="17151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altLang="ko-KR" sz="28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Malgun Gothic" panose="020B0503020000020004" pitchFamily="34" charset="-127"/>
                  <a:cs typeface="Poppins SemiBold" panose="00000700000000000000" pitchFamily="2" charset="0"/>
                </a:rPr>
                <a:t>05</a:t>
              </a:r>
              <a:endPara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FF"/>
                </a:solidFill>
                <a:latin typeface="Malgun Gothic" panose="020B0503020000020004" pitchFamily="34" charset="-127"/>
                <a:cs typeface="Poppins SemiBold" panose="000007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FAF0B34-211E-34EA-741F-6707860730B6}"/>
                </a:ext>
              </a:extLst>
            </p:cNvPr>
            <p:cNvSpPr txBox="1"/>
            <p:nvPr/>
          </p:nvSpPr>
          <p:spPr>
            <a:xfrm>
              <a:off x="128464" y="182283"/>
              <a:ext cx="181580" cy="1916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sz="32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결론</a:t>
              </a: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D73AF0CC-A5D7-97A7-E938-14430C983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0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DBCCA-8965-3044-00C2-18DAB98F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연구 배경</a:t>
            </a:r>
            <a:endParaRPr lang="ko-KR" altLang="en-US" dirty="0">
              <a:solidFill>
                <a:srgbClr val="0000FF"/>
              </a:solidFill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2A525CB-9E79-66B9-1CD2-8ADCFEE49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89253" y="4762915"/>
            <a:ext cx="11279999" cy="12176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7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endParaRPr lang="en-US" altLang="ko-KR" sz="17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endParaRPr lang="en-US" altLang="ko-KR" sz="17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490FA872-E32B-3ACE-BD20-D9E78351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70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70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997350A8-57F9-6F5D-6348-73F8E7023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2122A3F-A6A5-EE2B-4DE1-8F53BAC76112}"/>
              </a:ext>
            </a:extLst>
          </p:cNvPr>
          <p:cNvSpPr txBox="1">
            <a:spLocks/>
          </p:cNvSpPr>
          <p:nvPr/>
        </p:nvSpPr>
        <p:spPr>
          <a:xfrm>
            <a:off x="663939" y="4887071"/>
            <a:ext cx="10832300" cy="1426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리소스가 제한된 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자동차 임베디드 환경</a:t>
            </a: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에서 </a:t>
            </a:r>
            <a:r>
              <a:rPr lang="en-US" altLang="ko-KR" sz="17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BLAKE3</a:t>
            </a: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가</a:t>
            </a:r>
            <a:b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</a:br>
            <a:r>
              <a:rPr lang="ko-KR" altLang="en-US" sz="1700" b="1" dirty="0" err="1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해싱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시간</a:t>
            </a:r>
            <a:r>
              <a:rPr lang="en-US" altLang="ko-KR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, 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메모리 사용량</a:t>
            </a:r>
            <a:r>
              <a:rPr lang="en-US" altLang="ko-KR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, CPU 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점유율 </a:t>
            </a: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측면에서 성능 우수</a:t>
            </a:r>
            <a:br>
              <a:rPr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</a:b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임베디드 환경에서 실험을 통해 검증</a:t>
            </a:r>
            <a:endParaRPr lang="en-US" altLang="ko-KR" sz="17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7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DE5E77A2-A199-AE34-B2A8-05984EB7E1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4303673"/>
              </p:ext>
            </p:extLst>
          </p:nvPr>
        </p:nvGraphicFramePr>
        <p:xfrm>
          <a:off x="663939" y="2902341"/>
          <a:ext cx="9818865" cy="136096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34986">
                  <a:extLst>
                    <a:ext uri="{9D8B030D-6E8A-4147-A177-3AD203B41FA5}">
                      <a16:colId xmlns:a16="http://schemas.microsoft.com/office/drawing/2014/main" val="2024966776"/>
                    </a:ext>
                  </a:extLst>
                </a:gridCol>
                <a:gridCol w="8183879">
                  <a:extLst>
                    <a:ext uri="{9D8B030D-6E8A-4147-A177-3AD203B41FA5}">
                      <a16:colId xmlns:a16="http://schemas.microsoft.com/office/drawing/2014/main" val="3078568734"/>
                    </a:ext>
                  </a:extLst>
                </a:gridCol>
              </a:tblGrid>
              <a:tr h="3079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알고리즘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bg1"/>
                          </a:solidFill>
                        </a:rPr>
                        <a:t>특징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65537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/>
                        <a:t>BLAKE2S</a:t>
                      </a:r>
                      <a:endParaRPr lang="ko-KR" alt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SHA-256</a:t>
                      </a:r>
                      <a:r>
                        <a:rPr lang="ko-KR" altLang="en-US" sz="1500" b="0" dirty="0"/>
                        <a:t>보다 빠르고 리소스가 제한된 임베디드 환경에 적합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305460"/>
                  </a:ext>
                </a:extLst>
              </a:tr>
              <a:tr h="337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/>
                        <a:t>BLAKE2B</a:t>
                      </a:r>
                      <a:endParaRPr lang="ko-KR" alt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BLAKE2S</a:t>
                      </a:r>
                      <a:r>
                        <a:rPr lang="ko-KR" altLang="en-US" sz="1500" b="0" dirty="0"/>
                        <a:t>의 </a:t>
                      </a:r>
                      <a:r>
                        <a:rPr lang="en-US" altLang="ko-KR" sz="1500" b="0" dirty="0"/>
                        <a:t>64</a:t>
                      </a:r>
                      <a:r>
                        <a:rPr lang="ko-KR" altLang="en-US" sz="1500" b="0" dirty="0"/>
                        <a:t>비트 버전으로 대용량 데이터 처리에 강함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832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0" dirty="0"/>
                        <a:t>BLAKE3</a:t>
                      </a:r>
                      <a:endParaRPr lang="ko-KR" altLang="en-US" sz="15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 dirty="0"/>
                        <a:t>Merkle Tree, SIMD </a:t>
                      </a:r>
                      <a:r>
                        <a:rPr lang="ko-KR" altLang="en-US" sz="1500" b="0" dirty="0"/>
                        <a:t>병렬화를 활용해 빠른 성능 제공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5648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5A91D2B-52BD-4EF4-927D-7771A5B823F7}"/>
              </a:ext>
            </a:extLst>
          </p:cNvPr>
          <p:cNvSpPr txBox="1"/>
          <p:nvPr/>
        </p:nvSpPr>
        <p:spPr>
          <a:xfrm>
            <a:off x="455998" y="861218"/>
            <a:ext cx="102347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ECU</a:t>
            </a: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에 대한 소프트웨어 업데이트의 중요성 증가 </a:t>
            </a:r>
            <a:r>
              <a:rPr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&amp; </a:t>
            </a: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업데이트 파일에 대한 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무결성 검증</a:t>
            </a:r>
            <a:endParaRPr lang="en-US" altLang="ko-KR" sz="17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endParaRPr lang="ko-KR" altLang="en-US" sz="1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33260-E593-27B7-941C-64D3350B822C}"/>
              </a:ext>
            </a:extLst>
          </p:cNvPr>
          <p:cNvSpPr txBox="1"/>
          <p:nvPr/>
        </p:nvSpPr>
        <p:spPr>
          <a:xfrm>
            <a:off x="455998" y="1284925"/>
            <a:ext cx="10234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무결성 검증을 위해 </a:t>
            </a:r>
            <a:r>
              <a:rPr lang="en-US" altLang="ko-KR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SHA-256</a:t>
            </a: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범용적으로 사용</a:t>
            </a:r>
            <a:endParaRPr lang="en-US" altLang="ko-KR" sz="1700" dirty="0">
              <a:solidFill>
                <a:srgbClr val="001F99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7375D-DF0C-8B98-404D-D74105CE9761}"/>
              </a:ext>
            </a:extLst>
          </p:cNvPr>
          <p:cNvSpPr txBox="1"/>
          <p:nvPr/>
        </p:nvSpPr>
        <p:spPr>
          <a:xfrm>
            <a:off x="455998" y="1725754"/>
            <a:ext cx="10234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자원이 제한된 임베디드 환경에서 </a:t>
            </a:r>
            <a:r>
              <a:rPr lang="en-US" altLang="ko-KR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SHA-256</a:t>
            </a:r>
            <a:r>
              <a:rPr lang="ko-KR" altLang="en-US" sz="17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보다 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효율적인 적합한 알고리즘 탐색  </a:t>
            </a:r>
            <a:endParaRPr lang="en-US" altLang="ko-KR" sz="17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D0CB4-A02E-8E79-CA86-BBC14F5B2CDE}"/>
              </a:ext>
            </a:extLst>
          </p:cNvPr>
          <p:cNvSpPr txBox="1"/>
          <p:nvPr/>
        </p:nvSpPr>
        <p:spPr>
          <a:xfrm>
            <a:off x="434014" y="4532082"/>
            <a:ext cx="1211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가설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20E18-BEA0-0CCE-F15F-537446335752}"/>
              </a:ext>
            </a:extLst>
          </p:cNvPr>
          <p:cNvSpPr txBox="1"/>
          <p:nvPr/>
        </p:nvSpPr>
        <p:spPr>
          <a:xfrm>
            <a:off x="629214" y="2348470"/>
            <a:ext cx="681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BLAKE 2008</a:t>
            </a:r>
            <a:r>
              <a:rPr lang="ko-KR" altLang="en-US" dirty="0"/>
              <a:t>년 출시</a:t>
            </a:r>
            <a:r>
              <a:rPr lang="en-US" altLang="ko-KR" dirty="0"/>
              <a:t>, </a:t>
            </a:r>
            <a:r>
              <a:rPr lang="en-US" altLang="ko-KR" b="1" dirty="0">
                <a:solidFill>
                  <a:srgbClr val="0000FF"/>
                </a:solidFill>
              </a:rPr>
              <a:t>SIMD</a:t>
            </a:r>
            <a:r>
              <a:rPr lang="ko-KR" altLang="en-US" b="1" dirty="0">
                <a:solidFill>
                  <a:srgbClr val="0000FF"/>
                </a:solidFill>
              </a:rPr>
              <a:t> 친화적 구조</a:t>
            </a:r>
            <a:r>
              <a:rPr lang="en-US" altLang="ko-KR" b="1" dirty="0">
                <a:solidFill>
                  <a:srgbClr val="0000FF"/>
                </a:solidFill>
              </a:rPr>
              <a:t>,</a:t>
            </a:r>
            <a:r>
              <a:rPr lang="ko-KR" altLang="en-US" b="1" dirty="0">
                <a:solidFill>
                  <a:srgbClr val="0000FF"/>
                </a:solidFill>
              </a:rPr>
              <a:t> 경량 설계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94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ED821-8E0B-BC98-399A-BEE59744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B277C-0295-951E-3778-51C0D869B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98" y="136524"/>
            <a:ext cx="11279999" cy="540512"/>
          </a:xfrm>
        </p:spPr>
        <p:txBody>
          <a:bodyPr/>
          <a:lstStyle/>
          <a:p>
            <a:r>
              <a:rPr lang="en-US" altLang="ko-KR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BLAKE3 – </a:t>
            </a:r>
            <a:r>
              <a:rPr lang="ko-KR" altLang="en-US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구조적 특성 </a:t>
            </a:r>
            <a:r>
              <a:rPr lang="en-US" altLang="ko-KR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(1) Parallel Processing</a:t>
            </a:r>
            <a:endParaRPr lang="ko-KR" altLang="en-US" dirty="0">
              <a:solidFill>
                <a:srgbClr val="0000FF"/>
              </a:solidFill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FB3FC52F-17A3-EB89-AEE5-C95957E4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2D6CE16-A3EF-18F9-FBAB-1754530E1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pic>
        <p:nvPicPr>
          <p:cNvPr id="187" name="그래픽 186" descr="시계 방향으로 굽은 줄 화살표 윤곽선">
            <a:extLst>
              <a:ext uri="{FF2B5EF4-FFF2-40B4-BE49-F238E27FC236}">
                <a16:creationId xmlns:a16="http://schemas.microsoft.com/office/drawing/2014/main" id="{2A3E28A2-3F0F-B1D7-EA1F-A5F9C74C36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125701">
            <a:off x="3729819" y="2585132"/>
            <a:ext cx="706517" cy="807322"/>
          </a:xfrm>
          <a:prstGeom prst="rect">
            <a:avLst/>
          </a:prstGeom>
        </p:spPr>
      </p:pic>
      <p:pic>
        <p:nvPicPr>
          <p:cNvPr id="81" name="그래픽 80" descr="시계 방향으로 굽은 줄 화살표 윤곽선">
            <a:extLst>
              <a:ext uri="{FF2B5EF4-FFF2-40B4-BE49-F238E27FC236}">
                <a16:creationId xmlns:a16="http://schemas.microsoft.com/office/drawing/2014/main" id="{AFE51CA4-A06C-FAFE-2310-281C53510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125701">
            <a:off x="2048338" y="2585132"/>
            <a:ext cx="706517" cy="807322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42174C8E-2DE3-779E-CEC2-9C9D4EA4B929}"/>
              </a:ext>
            </a:extLst>
          </p:cNvPr>
          <p:cNvGrpSpPr/>
          <p:nvPr/>
        </p:nvGrpSpPr>
        <p:grpSpPr>
          <a:xfrm>
            <a:off x="104113" y="2644704"/>
            <a:ext cx="5831144" cy="3498672"/>
            <a:chOff x="350989" y="1510337"/>
            <a:chExt cx="6235959" cy="4273388"/>
          </a:xfrm>
        </p:grpSpPr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0C153D3-82B3-854E-97B5-54F0C2949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3034" y="1767840"/>
              <a:ext cx="0" cy="389128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1686E1AE-6F93-1B10-FAD7-CC6BC267A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3034" y="5455919"/>
              <a:ext cx="5253914" cy="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0C96EA1-351E-C4BE-200F-0CB385603572}"/>
                </a:ext>
              </a:extLst>
            </p:cNvPr>
            <p:cNvSpPr/>
            <p:nvPr/>
          </p:nvSpPr>
          <p:spPr>
            <a:xfrm>
              <a:off x="1333034" y="2011785"/>
              <a:ext cx="1634102" cy="3301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hash(block1)</a:t>
              </a:r>
              <a:endParaRPr lang="ko-KR" altLang="en-US" sz="1200" dirty="0"/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AEAC83B0-4982-78FE-BCB9-36394D0AEBC7}"/>
                </a:ext>
              </a:extLst>
            </p:cNvPr>
            <p:cNvCxnSpPr/>
            <p:nvPr/>
          </p:nvCxnSpPr>
          <p:spPr>
            <a:xfrm flipV="1">
              <a:off x="1318862" y="1767839"/>
              <a:ext cx="0" cy="368808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286ACFA-B878-6637-62BB-BED9437E87C1}"/>
                </a:ext>
              </a:extLst>
            </p:cNvPr>
            <p:cNvSpPr/>
            <p:nvPr/>
          </p:nvSpPr>
          <p:spPr>
            <a:xfrm>
              <a:off x="2967135" y="2011785"/>
              <a:ext cx="1634101" cy="32345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hash(block2 + HASH1)</a:t>
              </a:r>
              <a:endParaRPr lang="ko-KR" altLang="en-US" sz="1050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ED6AFF7-56A5-00F9-4CA7-6C7B8AF23B77}"/>
                </a:ext>
              </a:extLst>
            </p:cNvPr>
            <p:cNvSpPr/>
            <p:nvPr/>
          </p:nvSpPr>
          <p:spPr>
            <a:xfrm>
              <a:off x="4601235" y="2011785"/>
              <a:ext cx="1634101" cy="33019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hash(block3 + HASH2)</a:t>
              </a:r>
              <a:endParaRPr lang="ko-KR" altLang="en-US" sz="1050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A9D1FA3-2F64-9058-655A-6F21727969F9}"/>
                </a:ext>
              </a:extLst>
            </p:cNvPr>
            <p:cNvSpPr/>
            <p:nvPr/>
          </p:nvSpPr>
          <p:spPr>
            <a:xfrm>
              <a:off x="1333034" y="3408204"/>
              <a:ext cx="1634101" cy="33019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hash(chunk 1)</a:t>
              </a:r>
              <a:endParaRPr lang="ko-KR" altLang="en-US" sz="1200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27AC499-0E1D-A7B3-AED9-2A5FD1E4B54B}"/>
                </a:ext>
              </a:extLst>
            </p:cNvPr>
            <p:cNvSpPr/>
            <p:nvPr/>
          </p:nvSpPr>
          <p:spPr>
            <a:xfrm>
              <a:off x="1333034" y="3745147"/>
              <a:ext cx="1634101" cy="33019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hash(chunk 2)</a:t>
              </a:r>
              <a:endParaRPr lang="ko-KR" altLang="en-US" sz="1200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222502C-6757-EF45-E56B-7235AF29A3BA}"/>
                </a:ext>
              </a:extLst>
            </p:cNvPr>
            <p:cNvSpPr/>
            <p:nvPr/>
          </p:nvSpPr>
          <p:spPr>
            <a:xfrm>
              <a:off x="1333034" y="4080150"/>
              <a:ext cx="1634101" cy="33019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hash(chunk 3)</a:t>
              </a:r>
              <a:endParaRPr lang="ko-KR" altLang="en-US" sz="1200" dirty="0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A757E0BA-3041-1D09-72EC-8AA1B3F1D82A}"/>
                </a:ext>
              </a:extLst>
            </p:cNvPr>
            <p:cNvCxnSpPr>
              <a:cxnSpLocks/>
            </p:cNvCxnSpPr>
            <p:nvPr/>
          </p:nvCxnSpPr>
          <p:spPr>
            <a:xfrm>
              <a:off x="2967135" y="2341984"/>
              <a:ext cx="0" cy="3113936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26B1A0BC-08BC-10D3-49B9-DA961034B52B}"/>
                </a:ext>
              </a:extLst>
            </p:cNvPr>
            <p:cNvCxnSpPr>
              <a:cxnSpLocks/>
            </p:cNvCxnSpPr>
            <p:nvPr/>
          </p:nvCxnSpPr>
          <p:spPr>
            <a:xfrm>
              <a:off x="4610567" y="2341984"/>
              <a:ext cx="0" cy="3113936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D1DE4A44-CCDE-7CAC-EB5A-3D8A956839F3}"/>
                </a:ext>
              </a:extLst>
            </p:cNvPr>
            <p:cNvCxnSpPr>
              <a:cxnSpLocks/>
            </p:cNvCxnSpPr>
            <p:nvPr/>
          </p:nvCxnSpPr>
          <p:spPr>
            <a:xfrm>
              <a:off x="6226005" y="2341984"/>
              <a:ext cx="0" cy="3113936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261928-865E-ADF0-1857-365A321C5616}"/>
                </a:ext>
              </a:extLst>
            </p:cNvPr>
            <p:cNvSpPr txBox="1"/>
            <p:nvPr/>
          </p:nvSpPr>
          <p:spPr>
            <a:xfrm>
              <a:off x="1037794" y="5414393"/>
              <a:ext cx="4584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D94ECA-2849-9FC9-4B46-95CDB2EF0E76}"/>
                </a:ext>
              </a:extLst>
            </p:cNvPr>
            <p:cNvSpPr txBox="1"/>
            <p:nvPr/>
          </p:nvSpPr>
          <p:spPr>
            <a:xfrm>
              <a:off x="2719250" y="5403943"/>
              <a:ext cx="4584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1t</a:t>
              </a:r>
              <a:endParaRPr lang="ko-KR" alt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5BD64B-EF56-EE48-AC62-4CEDEE44F7D4}"/>
                </a:ext>
              </a:extLst>
            </p:cNvPr>
            <p:cNvSpPr txBox="1"/>
            <p:nvPr/>
          </p:nvSpPr>
          <p:spPr>
            <a:xfrm>
              <a:off x="4363695" y="5414392"/>
              <a:ext cx="4584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2t</a:t>
              </a:r>
              <a:endParaRPr lang="ko-KR" altLang="en-US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A320E41-059D-D99E-7A71-49EA003ABA79}"/>
                </a:ext>
              </a:extLst>
            </p:cNvPr>
            <p:cNvSpPr txBox="1"/>
            <p:nvPr/>
          </p:nvSpPr>
          <p:spPr>
            <a:xfrm>
              <a:off x="6006114" y="5414392"/>
              <a:ext cx="4584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3t</a:t>
              </a:r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4227748-64CE-518B-1D7E-D2B355D0A0E1}"/>
                </a:ext>
              </a:extLst>
            </p:cNvPr>
            <p:cNvSpPr txBox="1"/>
            <p:nvPr/>
          </p:nvSpPr>
          <p:spPr>
            <a:xfrm>
              <a:off x="350989" y="2034426"/>
              <a:ext cx="1037487" cy="3571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solidFill>
                    <a:schemeClr val="bg1">
                      <a:lumMod val="50000"/>
                    </a:schemeClr>
                  </a:solidFill>
                </a:rPr>
                <a:t>순차 처리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0DD537-6786-6A99-5829-2B679F0FE478}"/>
                </a:ext>
              </a:extLst>
            </p:cNvPr>
            <p:cNvSpPr txBox="1"/>
            <p:nvPr/>
          </p:nvSpPr>
          <p:spPr>
            <a:xfrm>
              <a:off x="355076" y="3511232"/>
              <a:ext cx="1037487" cy="3571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00" dirty="0">
                  <a:solidFill>
                    <a:schemeClr val="bg1">
                      <a:lumMod val="50000"/>
                    </a:schemeClr>
                  </a:solidFill>
                </a:rPr>
                <a:t>병렬 처리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67C10B6-931B-C733-EEDC-6BC8A4BF9115}"/>
                </a:ext>
              </a:extLst>
            </p:cNvPr>
            <p:cNvSpPr txBox="1"/>
            <p:nvPr/>
          </p:nvSpPr>
          <p:spPr>
            <a:xfrm>
              <a:off x="2659845" y="1510337"/>
              <a:ext cx="1035698" cy="338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1F3764"/>
                  </a:solidFill>
                  <a:latin typeface="+mj-ea"/>
                  <a:ea typeface="+mj-ea"/>
                </a:rPr>
                <a:t>HASH1</a:t>
              </a:r>
              <a:endParaRPr lang="ko-KR" altLang="en-US" sz="1200" dirty="0">
                <a:solidFill>
                  <a:srgbClr val="1F3764"/>
                </a:solidFill>
                <a:latin typeface="+mj-ea"/>
                <a:ea typeface="+mj-ea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5FC3BCC-5577-B849-B0EC-4CD31DA270A7}"/>
                </a:ext>
              </a:extLst>
            </p:cNvPr>
            <p:cNvSpPr txBox="1"/>
            <p:nvPr/>
          </p:nvSpPr>
          <p:spPr>
            <a:xfrm>
              <a:off x="4336368" y="1510337"/>
              <a:ext cx="1035698" cy="338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rgbClr val="1F3764"/>
                  </a:solidFill>
                  <a:latin typeface="+mj-ea"/>
                  <a:ea typeface="+mj-ea"/>
                </a:rPr>
                <a:t>HASH2</a:t>
              </a:r>
              <a:endParaRPr lang="ko-KR" altLang="en-US" sz="1200" dirty="0">
                <a:solidFill>
                  <a:srgbClr val="1F3764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599F72-189D-3210-1F02-4A4A455CB9E6}"/>
              </a:ext>
            </a:extLst>
          </p:cNvPr>
          <p:cNvGrpSpPr/>
          <p:nvPr/>
        </p:nvGrpSpPr>
        <p:grpSpPr>
          <a:xfrm>
            <a:off x="6095997" y="3138258"/>
            <a:ext cx="5920248" cy="2700310"/>
            <a:chOff x="6095997" y="2138133"/>
            <a:chExt cx="5920248" cy="2700310"/>
          </a:xfrm>
        </p:grpSpPr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E100BEA9-7201-C6A3-442C-7598C9EE9541}"/>
                </a:ext>
              </a:extLst>
            </p:cNvPr>
            <p:cNvSpPr txBox="1"/>
            <p:nvPr/>
          </p:nvSpPr>
          <p:spPr>
            <a:xfrm>
              <a:off x="6095997" y="2138133"/>
              <a:ext cx="5430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SHA-256 : </a:t>
              </a:r>
              <a:r>
                <a:rPr lang="ko-KR" altLang="en-US" dirty="0"/>
                <a:t>순차 처리</a:t>
              </a:r>
              <a:endParaRPr lang="en-US" altLang="ko-KR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E0E2ED-746B-00A1-ADFA-4C16BC08190A}"/>
                </a:ext>
              </a:extLst>
            </p:cNvPr>
            <p:cNvSpPr txBox="1"/>
            <p:nvPr/>
          </p:nvSpPr>
          <p:spPr>
            <a:xfrm>
              <a:off x="6585532" y="2579810"/>
              <a:ext cx="5430713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dirty="0"/>
                <a:t>이전 해시 결과인 상태에 의존하여 순서대로 처리</a:t>
              </a:r>
              <a:endParaRPr lang="en-US" altLang="ko-KR" sz="1500" dirty="0"/>
            </a:p>
            <a:p>
              <a:r>
                <a:rPr lang="en-US" altLang="ko-KR" sz="1500" dirty="0"/>
                <a:t>Block </a:t>
              </a:r>
              <a:r>
                <a:rPr lang="ko-KR" altLang="en-US" sz="1500" dirty="0"/>
                <a:t>개수에 따른 시간선형적으로 증가</a:t>
              </a:r>
              <a:endParaRPr lang="en-US" altLang="ko-KR" sz="1500" dirty="0"/>
            </a:p>
            <a:p>
              <a:endParaRPr lang="en-US" altLang="ko-KR" sz="15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A0BA26-44F7-815C-37BF-3CE074012222}"/>
                </a:ext>
              </a:extLst>
            </p:cNvPr>
            <p:cNvSpPr txBox="1"/>
            <p:nvPr/>
          </p:nvSpPr>
          <p:spPr>
            <a:xfrm>
              <a:off x="6095997" y="3381103"/>
              <a:ext cx="5430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00FF"/>
                  </a:solidFill>
                </a:rPr>
                <a:t>BLAKE3 : </a:t>
              </a:r>
              <a:r>
                <a:rPr lang="ko-KR" altLang="en-US" b="1" dirty="0">
                  <a:solidFill>
                    <a:srgbClr val="0000FF"/>
                  </a:solidFill>
                </a:rPr>
                <a:t>병렬 처리</a:t>
              </a:r>
              <a:endParaRPr lang="en-US" altLang="ko-KR" b="1" dirty="0">
                <a:solidFill>
                  <a:srgbClr val="0000FF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3A7A75B-5D84-95BE-CBAD-5E49A06B6BD8}"/>
                </a:ext>
              </a:extLst>
            </p:cNvPr>
            <p:cNvSpPr txBox="1"/>
            <p:nvPr/>
          </p:nvSpPr>
          <p:spPr>
            <a:xfrm>
              <a:off x="6585532" y="3822780"/>
              <a:ext cx="543071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dirty="0"/>
                <a:t>각 데이터를 독립적으로 </a:t>
              </a:r>
              <a:r>
                <a:rPr lang="ko-KR" altLang="en-US" sz="1500" b="1" dirty="0">
                  <a:solidFill>
                    <a:srgbClr val="0000FF"/>
                  </a:solidFill>
                </a:rPr>
                <a:t>병렬 처리 </a:t>
              </a:r>
              <a:r>
                <a:rPr lang="ko-KR" altLang="en-US" sz="1500" dirty="0"/>
                <a:t>후 부분 해시 값 생성</a:t>
              </a:r>
              <a:endParaRPr lang="en-US" altLang="ko-KR" sz="1500" dirty="0"/>
            </a:p>
            <a:p>
              <a:r>
                <a:rPr lang="ko-KR" altLang="en-US" sz="1500" dirty="0"/>
                <a:t>병합 과정을 통해 최종 해시 값 출력</a:t>
              </a:r>
              <a:endParaRPr lang="en-US" altLang="ko-KR" sz="1500" dirty="0"/>
            </a:p>
            <a:p>
              <a:r>
                <a:rPr lang="ko-KR" altLang="en-US" sz="1500" dirty="0"/>
                <a:t>해시 과정의 병렬처리로 </a:t>
              </a:r>
              <a:r>
                <a:rPr lang="ko-KR" altLang="en-US" sz="1500" b="1" dirty="0" err="1">
                  <a:solidFill>
                    <a:srgbClr val="0000FF"/>
                  </a:solidFill>
                </a:rPr>
                <a:t>해싱</a:t>
              </a:r>
              <a:r>
                <a:rPr lang="ko-KR" altLang="en-US" sz="1500" b="1" dirty="0">
                  <a:solidFill>
                    <a:srgbClr val="0000FF"/>
                  </a:solidFill>
                </a:rPr>
                <a:t> 시간 단축</a:t>
              </a:r>
              <a:endParaRPr lang="en-US" altLang="ko-KR" sz="1500" b="1" dirty="0">
                <a:solidFill>
                  <a:srgbClr val="0000FF"/>
                </a:solidFill>
              </a:endParaRPr>
            </a:p>
            <a:p>
              <a:endParaRPr lang="en-US" altLang="ko-KR" sz="1500" dirty="0"/>
            </a:p>
          </p:txBody>
        </p:sp>
      </p:grp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2DB895FF-4014-0341-2771-BC35FAA576D3}"/>
              </a:ext>
            </a:extLst>
          </p:cNvPr>
          <p:cNvSpPr txBox="1">
            <a:spLocks/>
          </p:cNvSpPr>
          <p:nvPr/>
        </p:nvSpPr>
        <p:spPr>
          <a:xfrm>
            <a:off x="2353074" y="1052211"/>
            <a:ext cx="11148851" cy="506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같은 데이터 처리 시 병렬 처리로 </a:t>
            </a:r>
            <a:r>
              <a:rPr lang="en-US" altLang="ko-KR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BLAKE3</a:t>
            </a: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빠른 처리 시간</a:t>
            </a:r>
            <a:endParaRPr lang="ko-KR" altLang="en-US" sz="12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21F2986-B158-FF2A-76D1-49BF1961DBB8}"/>
              </a:ext>
            </a:extLst>
          </p:cNvPr>
          <p:cNvSpPr/>
          <p:nvPr/>
        </p:nvSpPr>
        <p:spPr>
          <a:xfrm>
            <a:off x="2545909" y="5018238"/>
            <a:ext cx="1528021" cy="2703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Merging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34029-238D-92DA-B8E8-77E925DD2F02}"/>
              </a:ext>
            </a:extLst>
          </p:cNvPr>
          <p:cNvSpPr txBox="1"/>
          <p:nvPr/>
        </p:nvSpPr>
        <p:spPr>
          <a:xfrm>
            <a:off x="2638842" y="4176080"/>
            <a:ext cx="968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F3764"/>
                </a:solidFill>
                <a:latin typeface="+mj-ea"/>
                <a:ea typeface="+mj-ea"/>
              </a:rPr>
              <a:t>CV 1</a:t>
            </a:r>
            <a:endParaRPr lang="ko-KR" altLang="en-US" sz="1200" dirty="0">
              <a:solidFill>
                <a:srgbClr val="1F3764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87C4A2-DAD6-5AE5-1698-ED40996C30C5}"/>
              </a:ext>
            </a:extLst>
          </p:cNvPr>
          <p:cNvSpPr txBox="1"/>
          <p:nvPr/>
        </p:nvSpPr>
        <p:spPr>
          <a:xfrm>
            <a:off x="2638842" y="4419238"/>
            <a:ext cx="968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F3764"/>
                </a:solidFill>
                <a:latin typeface="+mj-ea"/>
                <a:ea typeface="+mj-ea"/>
              </a:rPr>
              <a:t>CV 2</a:t>
            </a:r>
            <a:endParaRPr lang="ko-KR" altLang="en-US" sz="1200" dirty="0">
              <a:solidFill>
                <a:srgbClr val="1F3764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919CD9-6A5D-38EF-DCD9-68062634C16E}"/>
              </a:ext>
            </a:extLst>
          </p:cNvPr>
          <p:cNvSpPr txBox="1"/>
          <p:nvPr/>
        </p:nvSpPr>
        <p:spPr>
          <a:xfrm>
            <a:off x="2653469" y="4691171"/>
            <a:ext cx="968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F3764"/>
                </a:solidFill>
                <a:latin typeface="+mj-ea"/>
                <a:ea typeface="+mj-ea"/>
              </a:rPr>
              <a:t>CV 3</a:t>
            </a:r>
            <a:endParaRPr lang="ko-KR" altLang="en-US" sz="1200" dirty="0">
              <a:solidFill>
                <a:srgbClr val="1F3764"/>
              </a:solidFill>
              <a:latin typeface="+mj-ea"/>
              <a:ea typeface="+mj-ea"/>
            </a:endParaRPr>
          </a:p>
        </p:txBody>
      </p:sp>
      <p:pic>
        <p:nvPicPr>
          <p:cNvPr id="16" name="그래픽 15" descr="시계 방향으로 굽은 줄 화살표 윤곽선">
            <a:extLst>
              <a:ext uri="{FF2B5EF4-FFF2-40B4-BE49-F238E27FC236}">
                <a16:creationId xmlns:a16="http://schemas.microsoft.com/office/drawing/2014/main" id="{7F5EF2DE-3466-54E9-86DC-A3523B2F4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125701">
            <a:off x="2023018" y="3750061"/>
            <a:ext cx="706517" cy="807322"/>
          </a:xfrm>
          <a:prstGeom prst="rect">
            <a:avLst/>
          </a:prstGeom>
        </p:spPr>
      </p:pic>
      <p:pic>
        <p:nvPicPr>
          <p:cNvPr id="17" name="그래픽 16" descr="시계 방향으로 굽은 줄 화살표 윤곽선">
            <a:extLst>
              <a:ext uri="{FF2B5EF4-FFF2-40B4-BE49-F238E27FC236}">
                <a16:creationId xmlns:a16="http://schemas.microsoft.com/office/drawing/2014/main" id="{77CB0016-C4B4-CFAF-F2FA-02D6429BB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125701">
            <a:off x="2052962" y="4043581"/>
            <a:ext cx="706517" cy="807322"/>
          </a:xfrm>
          <a:prstGeom prst="rect">
            <a:avLst/>
          </a:prstGeom>
        </p:spPr>
      </p:pic>
      <p:pic>
        <p:nvPicPr>
          <p:cNvPr id="60" name="그래픽 59" descr="시계 방향으로 굽은 줄 화살표 윤곽선">
            <a:extLst>
              <a:ext uri="{FF2B5EF4-FFF2-40B4-BE49-F238E27FC236}">
                <a16:creationId xmlns:a16="http://schemas.microsoft.com/office/drawing/2014/main" id="{55AAF759-1BB4-3800-45EB-E5F3C745D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125701">
            <a:off x="2052962" y="4315182"/>
            <a:ext cx="706517" cy="80732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5B36EB5-9AC5-B5A7-B4D7-478699255B14}"/>
              </a:ext>
            </a:extLst>
          </p:cNvPr>
          <p:cNvSpPr txBox="1"/>
          <p:nvPr/>
        </p:nvSpPr>
        <p:spPr>
          <a:xfrm>
            <a:off x="5720228" y="2878437"/>
            <a:ext cx="1226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j-ea"/>
                <a:ea typeface="+mj-ea"/>
              </a:rPr>
              <a:t>HASH CODE</a:t>
            </a:r>
            <a:endParaRPr lang="ko-KR" altLang="en-US" sz="12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63" name="그래픽 62" descr="시계 방향으로 굽은 줄 화살표 윤곽선">
            <a:extLst>
              <a:ext uri="{FF2B5EF4-FFF2-40B4-BE49-F238E27FC236}">
                <a16:creationId xmlns:a16="http://schemas.microsoft.com/office/drawing/2014/main" id="{8513DF87-79EA-8CC2-DD27-97F63677B8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125701">
            <a:off x="5069675" y="2600023"/>
            <a:ext cx="706517" cy="807322"/>
          </a:xfrm>
          <a:prstGeom prst="rect">
            <a:avLst/>
          </a:prstGeom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030657D-CCAE-97A8-F114-561D0D8F4477}"/>
              </a:ext>
            </a:extLst>
          </p:cNvPr>
          <p:cNvCxnSpPr/>
          <p:nvPr/>
        </p:nvCxnSpPr>
        <p:spPr>
          <a:xfrm>
            <a:off x="3137701" y="4333679"/>
            <a:ext cx="176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1328BC0-BA37-3C86-C458-658DCEE7801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309919" y="4333679"/>
            <a:ext cx="1" cy="6845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C408A7AC-F73E-76B4-C71C-EA3DC829DA06}"/>
              </a:ext>
            </a:extLst>
          </p:cNvPr>
          <p:cNvCxnSpPr/>
          <p:nvPr/>
        </p:nvCxnSpPr>
        <p:spPr>
          <a:xfrm>
            <a:off x="3137701" y="4575248"/>
            <a:ext cx="176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468E6978-5C4E-0F78-800A-7B41244F7AC5}"/>
              </a:ext>
            </a:extLst>
          </p:cNvPr>
          <p:cNvCxnSpPr>
            <a:cxnSpLocks/>
          </p:cNvCxnSpPr>
          <p:nvPr/>
        </p:nvCxnSpPr>
        <p:spPr>
          <a:xfrm>
            <a:off x="3123074" y="4829670"/>
            <a:ext cx="176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B84D3C3-208D-1ABB-A35C-0FEA9CEF030B}"/>
              </a:ext>
            </a:extLst>
          </p:cNvPr>
          <p:cNvSpPr txBox="1"/>
          <p:nvPr/>
        </p:nvSpPr>
        <p:spPr>
          <a:xfrm>
            <a:off x="4336866" y="4945750"/>
            <a:ext cx="1226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  <a:latin typeface="+mj-ea"/>
                <a:ea typeface="+mj-ea"/>
              </a:rPr>
              <a:t>HASH CODE’</a:t>
            </a:r>
            <a:endParaRPr lang="ko-KR" altLang="en-US" sz="12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93" name="그래픽 92" descr="시계 방향으로 굽은 줄 화살표 윤곽선">
            <a:extLst>
              <a:ext uri="{FF2B5EF4-FFF2-40B4-BE49-F238E27FC236}">
                <a16:creationId xmlns:a16="http://schemas.microsoft.com/office/drawing/2014/main" id="{FBD36882-9B80-CF24-0136-3D1C9D72B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125701">
            <a:off x="3659224" y="4565230"/>
            <a:ext cx="706517" cy="80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6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6CCB-FCB6-D203-31AD-C2A006385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1659A-DC3E-C2C4-4063-B6FC1008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98" y="136524"/>
            <a:ext cx="11279999" cy="540512"/>
          </a:xfrm>
        </p:spPr>
        <p:txBody>
          <a:bodyPr/>
          <a:lstStyle/>
          <a:p>
            <a:r>
              <a:rPr lang="en-US" altLang="ko-KR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BLAKE3 – </a:t>
            </a:r>
            <a:r>
              <a:rPr lang="ko-KR" altLang="en-US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구조적 특성 </a:t>
            </a:r>
            <a:r>
              <a:rPr lang="en-US" altLang="ko-KR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(2) Merkle Tree</a:t>
            </a:r>
            <a:endParaRPr lang="ko-KR" altLang="en-US" dirty="0">
              <a:solidFill>
                <a:srgbClr val="0000FF"/>
              </a:solidFill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D5D297A0-8CC1-8A6A-B099-4C2152BF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DE28FA3-103D-1478-9787-AAAED65E9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65" name="내용 개체 틀 2">
            <a:extLst>
              <a:ext uri="{FF2B5EF4-FFF2-40B4-BE49-F238E27FC236}">
                <a16:creationId xmlns:a16="http://schemas.microsoft.com/office/drawing/2014/main" id="{E83AD19A-BE1C-08F8-C40A-A25F0BF4B199}"/>
              </a:ext>
            </a:extLst>
          </p:cNvPr>
          <p:cNvSpPr txBox="1">
            <a:spLocks/>
          </p:cNvSpPr>
          <p:nvPr/>
        </p:nvSpPr>
        <p:spPr>
          <a:xfrm>
            <a:off x="943494" y="967348"/>
            <a:ext cx="11148851" cy="506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입력 데이터를 </a:t>
            </a:r>
            <a:r>
              <a:rPr lang="en-US" altLang="ko-KR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chunk </a:t>
            </a: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단위로 분할하여 병렬처리 후 병합하는 </a:t>
            </a:r>
            <a:r>
              <a:rPr lang="en-US" altLang="ko-KR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Tree</a:t>
            </a: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구조 특성 </a:t>
            </a:r>
            <a:r>
              <a:rPr lang="en-US" altLang="ko-KR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-&gt;</a:t>
            </a: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BLAKE3 </a:t>
            </a: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처리 시간 단축</a:t>
            </a:r>
            <a:endParaRPr lang="ko-KR" altLang="en-US" sz="12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31B4FD6-28F5-DD82-F615-EBD93D4DB75A}"/>
              </a:ext>
            </a:extLst>
          </p:cNvPr>
          <p:cNvGrpSpPr/>
          <p:nvPr/>
        </p:nvGrpSpPr>
        <p:grpSpPr>
          <a:xfrm>
            <a:off x="5689834" y="3155705"/>
            <a:ext cx="5400402" cy="3078023"/>
            <a:chOff x="123845" y="1629236"/>
            <a:chExt cx="5400402" cy="307802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9BC87D2-C397-C9B0-039F-E81577FBB782}"/>
                </a:ext>
              </a:extLst>
            </p:cNvPr>
            <p:cNvGrpSpPr/>
            <p:nvPr/>
          </p:nvGrpSpPr>
          <p:grpSpPr>
            <a:xfrm>
              <a:off x="123845" y="1629236"/>
              <a:ext cx="4926246" cy="2677851"/>
              <a:chOff x="5714078" y="1644579"/>
              <a:chExt cx="5769108" cy="3543669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17D324B-372B-C58B-ECB5-C43B37FC7F1B}"/>
                  </a:ext>
                </a:extLst>
              </p:cNvPr>
              <p:cNvSpPr/>
              <p:nvPr/>
            </p:nvSpPr>
            <p:spPr>
              <a:xfrm>
                <a:off x="6829131" y="4796897"/>
                <a:ext cx="863566" cy="30464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/>
                  <a:t>chunk 0</a:t>
                </a:r>
                <a:endParaRPr lang="ko-KR" altLang="en-US" sz="1100" dirty="0"/>
              </a:p>
            </p:txBody>
          </p:sp>
          <p:cxnSp>
            <p:nvCxnSpPr>
              <p:cNvPr id="7" name="직선 화살표 연결선 6">
                <a:extLst>
                  <a:ext uri="{FF2B5EF4-FFF2-40B4-BE49-F238E27FC236}">
                    <a16:creationId xmlns:a16="http://schemas.microsoft.com/office/drawing/2014/main" id="{F0F422F8-CF15-4C61-2FDD-630C7F3254B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47942" y="4865686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0127F4-1934-8E4E-D4CE-24FE9E16A98C}"/>
                  </a:ext>
                </a:extLst>
              </p:cNvPr>
              <p:cNvSpPr txBox="1"/>
              <p:nvPr/>
            </p:nvSpPr>
            <p:spPr>
              <a:xfrm>
                <a:off x="8073465" y="4861382"/>
                <a:ext cx="73674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hash() </a:t>
                </a:r>
                <a:endParaRPr lang="ko-KR" altLang="en-US" sz="800" b="1" dirty="0"/>
              </a:p>
            </p:txBody>
          </p:sp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D67764F3-A842-B2AD-A7B8-C4545BA9622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715403" y="4865686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E8AC7B2-1271-AB9B-542F-3C3A32C19B39}"/>
                  </a:ext>
                </a:extLst>
              </p:cNvPr>
              <p:cNvSpPr/>
              <p:nvPr/>
            </p:nvSpPr>
            <p:spPr>
              <a:xfrm>
                <a:off x="8911267" y="4845296"/>
                <a:ext cx="585139" cy="34295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</a:rPr>
                  <a:t>부분</a:t>
                </a:r>
                <a:br>
                  <a:rPr lang="en-US" altLang="ko-KR" sz="700" b="1" dirty="0">
                    <a:solidFill>
                      <a:schemeClr val="tx1"/>
                    </a:solidFill>
                  </a:rPr>
                </a:br>
                <a:r>
                  <a:rPr lang="ko-KR" altLang="en-US" sz="700" b="1" dirty="0">
                    <a:solidFill>
                      <a:schemeClr val="tx1"/>
                    </a:solidFill>
                  </a:rPr>
                  <a:t>해시 값</a:t>
                </a: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C4837B6-B81B-FAE1-0969-93A7A309DF10}"/>
                  </a:ext>
                </a:extLst>
              </p:cNvPr>
              <p:cNvSpPr/>
              <p:nvPr/>
            </p:nvSpPr>
            <p:spPr>
              <a:xfrm>
                <a:off x="6829131" y="3746124"/>
                <a:ext cx="863566" cy="30464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/>
                  <a:t>chunk 1</a:t>
                </a:r>
                <a:endParaRPr lang="ko-KR" altLang="en-US" sz="1100" dirty="0"/>
              </a:p>
            </p:txBody>
          </p: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D587A9F0-ED7C-A78E-89C0-789799ECFC3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47942" y="3814913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BEF48B-6A6A-074D-EC1D-84B627FBDEE1}"/>
                  </a:ext>
                </a:extLst>
              </p:cNvPr>
              <p:cNvSpPr txBox="1"/>
              <p:nvPr/>
            </p:nvSpPr>
            <p:spPr>
              <a:xfrm>
                <a:off x="8073465" y="3810610"/>
                <a:ext cx="73674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hash() </a:t>
                </a:r>
                <a:endParaRPr lang="ko-KR" altLang="en-US" sz="800" b="1" dirty="0"/>
              </a:p>
            </p:txBody>
          </p: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458AC185-C96E-A842-B488-FA969D55FD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715403" y="3814913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F0316980-0820-026E-D30D-D8462FAB0C20}"/>
                  </a:ext>
                </a:extLst>
              </p:cNvPr>
              <p:cNvSpPr/>
              <p:nvPr/>
            </p:nvSpPr>
            <p:spPr>
              <a:xfrm>
                <a:off x="8911267" y="3752193"/>
                <a:ext cx="585139" cy="34294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</a:rPr>
                  <a:t>부분</a:t>
                </a:r>
                <a:br>
                  <a:rPr lang="en-US" altLang="ko-KR" sz="700" b="1" dirty="0">
                    <a:solidFill>
                      <a:schemeClr val="tx1"/>
                    </a:solidFill>
                  </a:rPr>
                </a:br>
                <a:r>
                  <a:rPr lang="ko-KR" altLang="en-US" sz="700" b="1" dirty="0">
                    <a:solidFill>
                      <a:schemeClr val="tx1"/>
                    </a:solidFill>
                  </a:rPr>
                  <a:t>해시 값</a:t>
                </a: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263B3A88-93FA-3644-C1CB-E0EF530FDA5D}"/>
                  </a:ext>
                </a:extLst>
              </p:cNvPr>
              <p:cNvSpPr/>
              <p:nvPr/>
            </p:nvSpPr>
            <p:spPr>
              <a:xfrm>
                <a:off x="6829131" y="1644579"/>
                <a:ext cx="863566" cy="30464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/>
                  <a:t>chunk 3</a:t>
                </a:r>
                <a:endParaRPr lang="ko-KR" altLang="en-US" sz="1100" dirty="0"/>
              </a:p>
            </p:txBody>
          </p: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0DFB449E-08B5-DE8D-188D-3A55FCC5A6B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47942" y="1713368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F35FC7-6918-81E2-F963-9F6FA18DF090}"/>
                  </a:ext>
                </a:extLst>
              </p:cNvPr>
              <p:cNvSpPr txBox="1"/>
              <p:nvPr/>
            </p:nvSpPr>
            <p:spPr>
              <a:xfrm>
                <a:off x="8073465" y="1709064"/>
                <a:ext cx="73674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hash() </a:t>
                </a:r>
                <a:endParaRPr lang="ko-KR" altLang="en-US" sz="800" b="1" dirty="0"/>
              </a:p>
            </p:txBody>
          </p: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095FE8B6-7A76-5A8F-0127-D435DB7AF33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715403" y="1713368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4F37B8B0-B3E5-DCF1-A1C9-A1A978C2DD5F}"/>
                  </a:ext>
                </a:extLst>
              </p:cNvPr>
              <p:cNvSpPr/>
              <p:nvPr/>
            </p:nvSpPr>
            <p:spPr>
              <a:xfrm>
                <a:off x="8911268" y="1662413"/>
                <a:ext cx="585138" cy="3702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</a:rPr>
                  <a:t>부분</a:t>
                </a:r>
                <a:br>
                  <a:rPr lang="en-US" altLang="ko-KR" sz="700" b="1" dirty="0">
                    <a:solidFill>
                      <a:schemeClr val="tx1"/>
                    </a:solidFill>
                  </a:rPr>
                </a:br>
                <a:r>
                  <a:rPr lang="ko-KR" altLang="en-US" sz="700" b="1" dirty="0">
                    <a:solidFill>
                      <a:schemeClr val="tx1"/>
                    </a:solidFill>
                  </a:rPr>
                  <a:t>해시 값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32A980C5-19A2-4213-A162-796625C9A137}"/>
                  </a:ext>
                </a:extLst>
              </p:cNvPr>
              <p:cNvSpPr/>
              <p:nvPr/>
            </p:nvSpPr>
            <p:spPr>
              <a:xfrm>
                <a:off x="6829131" y="2698940"/>
                <a:ext cx="863566" cy="30464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/>
                  <a:t>chunk 2</a:t>
                </a:r>
                <a:endParaRPr lang="ko-KR" altLang="en-US" sz="1100" dirty="0"/>
              </a:p>
            </p:txBody>
          </p: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282F67FF-F82D-4298-EFA2-532CD14AED6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947942" y="2767730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203163-A160-9FA6-9DE6-6D0B881AD302}"/>
                  </a:ext>
                </a:extLst>
              </p:cNvPr>
              <p:cNvSpPr txBox="1"/>
              <p:nvPr/>
            </p:nvSpPr>
            <p:spPr>
              <a:xfrm>
                <a:off x="8073465" y="2763426"/>
                <a:ext cx="73674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hash() </a:t>
                </a:r>
                <a:endParaRPr lang="ko-KR" altLang="en-US" sz="800" b="1" dirty="0"/>
              </a:p>
            </p:txBody>
          </p:sp>
          <p:cxnSp>
            <p:nvCxnSpPr>
              <p:cNvPr id="29" name="직선 화살표 연결선 28">
                <a:extLst>
                  <a:ext uri="{FF2B5EF4-FFF2-40B4-BE49-F238E27FC236}">
                    <a16:creationId xmlns:a16="http://schemas.microsoft.com/office/drawing/2014/main" id="{76EFD8B6-B3F8-10F5-C253-03DE19ED1AC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715403" y="2767730"/>
                <a:ext cx="0" cy="25984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73046B0-DAC4-D194-D625-2D93F0850DA1}"/>
                  </a:ext>
                </a:extLst>
              </p:cNvPr>
              <p:cNvSpPr/>
              <p:nvPr/>
            </p:nvSpPr>
            <p:spPr>
              <a:xfrm>
                <a:off x="8911267" y="2705010"/>
                <a:ext cx="585139" cy="37022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</a:rPr>
                  <a:t>부분</a:t>
                </a:r>
                <a:br>
                  <a:rPr lang="en-US" altLang="ko-KR" sz="700" b="1" dirty="0">
                    <a:solidFill>
                      <a:schemeClr val="tx1"/>
                    </a:solidFill>
                  </a:rPr>
                </a:br>
                <a:r>
                  <a:rPr lang="ko-KR" altLang="en-US" sz="700" b="1" dirty="0">
                    <a:solidFill>
                      <a:schemeClr val="tx1"/>
                    </a:solidFill>
                  </a:rPr>
                  <a:t>해시 값</a:t>
                </a:r>
              </a:p>
            </p:txBody>
          </p: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B8B99313-2142-53C4-0757-9AAD85332DD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06949" y="4691187"/>
                <a:ext cx="342950" cy="27587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2B984536-9359-F69B-EC1F-B61957AA02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9502150" y="3963278"/>
                <a:ext cx="342950" cy="27587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E0CAC91-BD95-18D7-681C-C9F26360079D}"/>
                  </a:ext>
                </a:extLst>
              </p:cNvPr>
              <p:cNvSpPr txBox="1"/>
              <p:nvPr/>
            </p:nvSpPr>
            <p:spPr>
              <a:xfrm>
                <a:off x="9697415" y="4208169"/>
                <a:ext cx="734431" cy="529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중간</a:t>
                </a:r>
                <a:br>
                  <a:rPr lang="en-US" altLang="ko-KR" sz="1000" dirty="0"/>
                </a:br>
                <a:r>
                  <a:rPr lang="ko-KR" altLang="en-US" sz="1000" dirty="0"/>
                  <a:t>해시 값</a:t>
                </a:r>
              </a:p>
            </p:txBody>
          </p: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291410C3-71C5-AF4E-13E4-517EE5A645D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06949" y="2588274"/>
                <a:ext cx="342950" cy="27587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423F13B1-A318-E0F4-8906-7BF4860BBDF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9502150" y="1860365"/>
                <a:ext cx="342950" cy="27587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983ACEE-2282-AE04-8E35-732B2175F715}"/>
                  </a:ext>
                </a:extLst>
              </p:cNvPr>
              <p:cNvSpPr txBox="1"/>
              <p:nvPr/>
            </p:nvSpPr>
            <p:spPr>
              <a:xfrm>
                <a:off x="9699779" y="2115944"/>
                <a:ext cx="734431" cy="529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중간</a:t>
                </a:r>
                <a:br>
                  <a:rPr lang="en-US" altLang="ko-KR" sz="1000" dirty="0"/>
                </a:br>
                <a:r>
                  <a:rPr lang="ko-KR" altLang="en-US" sz="1000" dirty="0"/>
                  <a:t>해시 값</a:t>
                </a:r>
              </a:p>
            </p:txBody>
          </p:sp>
          <p:cxnSp>
            <p:nvCxnSpPr>
              <p:cNvPr id="55" name="직선 화살표 연결선 54">
                <a:extLst>
                  <a:ext uri="{FF2B5EF4-FFF2-40B4-BE49-F238E27FC236}">
                    <a16:creationId xmlns:a16="http://schemas.microsoft.com/office/drawing/2014/main" id="{1C3CDF4C-6B1B-28FE-A662-F39C7CEB44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6146" y="2586947"/>
                <a:ext cx="495760" cy="49072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5E45BE9-4EF7-0265-95EB-7FAE5ED8ACB8}"/>
                  </a:ext>
                </a:extLst>
              </p:cNvPr>
              <p:cNvSpPr txBox="1"/>
              <p:nvPr/>
            </p:nvSpPr>
            <p:spPr>
              <a:xfrm>
                <a:off x="10642785" y="3192109"/>
                <a:ext cx="840401" cy="610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200" dirty="0"/>
                  <a:t>최종</a:t>
                </a:r>
                <a:br>
                  <a:rPr lang="en-US" altLang="ko-KR" sz="1200" dirty="0"/>
                </a:br>
                <a:r>
                  <a:rPr lang="ko-KR" altLang="en-US" sz="1200" dirty="0"/>
                  <a:t>해시 값</a:t>
                </a: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54BA59F6-8333-E816-EBA4-B14C924F804C}"/>
                  </a:ext>
                </a:extLst>
              </p:cNvPr>
              <p:cNvSpPr/>
              <p:nvPr/>
            </p:nvSpPr>
            <p:spPr>
              <a:xfrm>
                <a:off x="5714078" y="3236765"/>
                <a:ext cx="1087000" cy="27033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b="1" dirty="0">
                    <a:solidFill>
                      <a:schemeClr val="tx1"/>
                    </a:solidFill>
                  </a:rPr>
                  <a:t>Block 1</a:t>
                </a:r>
                <a:endParaRPr lang="ko-KR" altLang="en-US" sz="105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2" name="연결선: 꺾임 191">
                <a:extLst>
                  <a:ext uri="{FF2B5EF4-FFF2-40B4-BE49-F238E27FC236}">
                    <a16:creationId xmlns:a16="http://schemas.microsoft.com/office/drawing/2014/main" id="{F3616F82-B84A-F284-339B-9E80FD937842}"/>
                  </a:ext>
                </a:extLst>
              </p:cNvPr>
              <p:cNvCxnSpPr>
                <a:cxnSpLocks/>
                <a:stCxn id="190" idx="0"/>
                <a:endCxn id="17" idx="1"/>
              </p:cNvCxnSpPr>
              <p:nvPr/>
            </p:nvCxnSpPr>
            <p:spPr>
              <a:xfrm rot="5400000" flipH="1" flipV="1">
                <a:off x="5823422" y="2231057"/>
                <a:ext cx="1439865" cy="5715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연결선: 꺾임 192">
                <a:extLst>
                  <a:ext uri="{FF2B5EF4-FFF2-40B4-BE49-F238E27FC236}">
                    <a16:creationId xmlns:a16="http://schemas.microsoft.com/office/drawing/2014/main" id="{34302941-8C71-0B7F-EBF8-427CD99101E4}"/>
                  </a:ext>
                </a:extLst>
              </p:cNvPr>
              <p:cNvCxnSpPr>
                <a:cxnSpLocks/>
                <a:stCxn id="190" idx="0"/>
                <a:endCxn id="23" idx="1"/>
              </p:cNvCxnSpPr>
              <p:nvPr/>
            </p:nvCxnSpPr>
            <p:spPr>
              <a:xfrm rot="5400000" flipH="1" flipV="1">
                <a:off x="6350602" y="2758237"/>
                <a:ext cx="385504" cy="5715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연결선: 꺾임 195">
                <a:extLst>
                  <a:ext uri="{FF2B5EF4-FFF2-40B4-BE49-F238E27FC236}">
                    <a16:creationId xmlns:a16="http://schemas.microsoft.com/office/drawing/2014/main" id="{6FF9E784-CFDE-CD40-ECC6-09E365B3CEF2}"/>
                  </a:ext>
                </a:extLst>
              </p:cNvPr>
              <p:cNvCxnSpPr>
                <a:cxnSpLocks/>
                <a:stCxn id="190" idx="2"/>
                <a:endCxn id="11" idx="1"/>
              </p:cNvCxnSpPr>
              <p:nvPr/>
            </p:nvCxnSpPr>
            <p:spPr>
              <a:xfrm rot="16200000" flipH="1">
                <a:off x="6347683" y="3416997"/>
                <a:ext cx="391342" cy="5715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연결선: 꺾임 198">
                <a:extLst>
                  <a:ext uri="{FF2B5EF4-FFF2-40B4-BE49-F238E27FC236}">
                    <a16:creationId xmlns:a16="http://schemas.microsoft.com/office/drawing/2014/main" id="{025A6749-9A73-A85B-1959-A67B3B9C61FF}"/>
                  </a:ext>
                </a:extLst>
              </p:cNvPr>
              <p:cNvCxnSpPr>
                <a:cxnSpLocks/>
                <a:stCxn id="190" idx="2"/>
                <a:endCxn id="4" idx="1"/>
              </p:cNvCxnSpPr>
              <p:nvPr/>
            </p:nvCxnSpPr>
            <p:spPr>
              <a:xfrm rot="16200000" flipH="1">
                <a:off x="5822297" y="3942383"/>
                <a:ext cx="1442115" cy="5715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직선 화살표 연결선 204">
                <a:extLst>
                  <a:ext uri="{FF2B5EF4-FFF2-40B4-BE49-F238E27FC236}">
                    <a16:creationId xmlns:a16="http://schemas.microsoft.com/office/drawing/2014/main" id="{8FAB4868-8BF7-5188-DEF1-AFF4785AEF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66146" y="3781767"/>
                <a:ext cx="495760" cy="49072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왼쪽 대괄호 45">
              <a:extLst>
                <a:ext uri="{FF2B5EF4-FFF2-40B4-BE49-F238E27FC236}">
                  <a16:creationId xmlns:a16="http://schemas.microsoft.com/office/drawing/2014/main" id="{301A9052-0F5B-7FC5-3813-6F8CD0267B65}"/>
                </a:ext>
              </a:extLst>
            </p:cNvPr>
            <p:cNvSpPr/>
            <p:nvPr/>
          </p:nvSpPr>
          <p:spPr>
            <a:xfrm rot="16200000">
              <a:off x="1934140" y="2987896"/>
              <a:ext cx="116928" cy="2789032"/>
            </a:xfrm>
            <a:prstGeom prst="lef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FD6AFC5-ACBE-AC96-6B5B-7E7FF8551F14}"/>
                </a:ext>
              </a:extLst>
            </p:cNvPr>
            <p:cNvSpPr txBox="1"/>
            <p:nvPr/>
          </p:nvSpPr>
          <p:spPr>
            <a:xfrm>
              <a:off x="1723677" y="4491815"/>
              <a:ext cx="17041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병렬 처리 </a:t>
              </a:r>
            </a:p>
          </p:txBody>
        </p:sp>
        <p:sp>
          <p:nvSpPr>
            <p:cNvPr id="58" name="왼쪽 대괄호 57">
              <a:extLst>
                <a:ext uri="{FF2B5EF4-FFF2-40B4-BE49-F238E27FC236}">
                  <a16:creationId xmlns:a16="http://schemas.microsoft.com/office/drawing/2014/main" id="{768656C8-2832-ABAD-7EC3-D8561D813180}"/>
                </a:ext>
              </a:extLst>
            </p:cNvPr>
            <p:cNvSpPr/>
            <p:nvPr/>
          </p:nvSpPr>
          <p:spPr>
            <a:xfrm rot="16200000">
              <a:off x="4095307" y="3726420"/>
              <a:ext cx="113830" cy="1324756"/>
            </a:xfrm>
            <a:prstGeom prst="lef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89E91FA-A83D-C960-4C41-DDBE3E274AFA}"/>
                </a:ext>
              </a:extLst>
            </p:cNvPr>
            <p:cNvSpPr txBox="1"/>
            <p:nvPr/>
          </p:nvSpPr>
          <p:spPr>
            <a:xfrm>
              <a:off x="3820123" y="4483233"/>
              <a:ext cx="170412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순차 처리 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AC3C4A8-14BC-FDCC-638C-D6B191302569}"/>
              </a:ext>
            </a:extLst>
          </p:cNvPr>
          <p:cNvGrpSpPr/>
          <p:nvPr/>
        </p:nvGrpSpPr>
        <p:grpSpPr>
          <a:xfrm>
            <a:off x="477312" y="1590166"/>
            <a:ext cx="5721025" cy="1433730"/>
            <a:chOff x="6414859" y="4766921"/>
            <a:chExt cx="5721025" cy="1433730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4F66BC3-C3BC-7A5B-EB51-17605D46A77B}"/>
                </a:ext>
              </a:extLst>
            </p:cNvPr>
            <p:cNvSpPr txBox="1"/>
            <p:nvPr/>
          </p:nvSpPr>
          <p:spPr>
            <a:xfrm>
              <a:off x="6414859" y="4766921"/>
              <a:ext cx="5430713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700" b="1" dirty="0"/>
                <a:t>SHA-256 : Merkle-</a:t>
              </a:r>
              <a:r>
                <a:rPr lang="en-US" altLang="ko-KR" sz="1700" b="1" dirty="0" err="1"/>
                <a:t>Damgard</a:t>
              </a:r>
              <a:endParaRPr lang="en-US" altLang="ko-KR" sz="1700" b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028F1F8-C30E-CE3D-A274-71CED55DF078}"/>
                </a:ext>
              </a:extLst>
            </p:cNvPr>
            <p:cNvSpPr txBox="1"/>
            <p:nvPr/>
          </p:nvSpPr>
          <p:spPr>
            <a:xfrm>
              <a:off x="6546467" y="5246736"/>
              <a:ext cx="5589417" cy="953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300" dirty="0"/>
                <a:t>- </a:t>
              </a:r>
              <a:r>
                <a:rPr lang="ko-KR" altLang="en-US" sz="1300" dirty="0"/>
                <a:t>입력 데이터를 블록</a:t>
              </a:r>
              <a:r>
                <a:rPr lang="en-US" altLang="ko-KR" sz="1300" dirty="0"/>
                <a:t>(512bit)</a:t>
              </a:r>
              <a:r>
                <a:rPr lang="ko-KR" altLang="en-US" sz="1300" dirty="0"/>
                <a:t>로 나누고</a:t>
              </a:r>
              <a:r>
                <a:rPr lang="en-US" altLang="ko-KR" sz="1300" dirty="0"/>
                <a:t>, </a:t>
              </a:r>
              <a:r>
                <a:rPr lang="ko-KR" altLang="en-US" sz="1300" dirty="0"/>
                <a:t>블록을 순차적으로</a:t>
              </a:r>
              <a:br>
                <a:rPr lang="en-US" altLang="ko-KR" sz="1300" dirty="0"/>
              </a:br>
              <a:r>
                <a:rPr lang="en-US" altLang="ko-KR" sz="1300" dirty="0"/>
                <a:t>  </a:t>
              </a:r>
              <a:r>
                <a:rPr lang="ko-KR" altLang="en-US" sz="1300" dirty="0"/>
                <a:t>압축하여 최종 해시 값을 생성</a:t>
              </a:r>
              <a:endParaRPr lang="en-US" altLang="ko-KR" sz="1300" dirty="0"/>
            </a:p>
            <a:p>
              <a:pPr>
                <a:lnSpc>
                  <a:spcPct val="150000"/>
                </a:lnSpc>
              </a:pPr>
              <a:endParaRPr lang="en-US" altLang="ko-KR" sz="13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85B83AE-1C4C-EB22-E7D6-10DD57B5C233}"/>
              </a:ext>
            </a:extLst>
          </p:cNvPr>
          <p:cNvGrpSpPr/>
          <p:nvPr/>
        </p:nvGrpSpPr>
        <p:grpSpPr>
          <a:xfrm>
            <a:off x="5643103" y="1626156"/>
            <a:ext cx="5710955" cy="1309414"/>
            <a:chOff x="334460" y="4766921"/>
            <a:chExt cx="5710955" cy="1309414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F869896-B115-276A-13B5-EB667F72BEF9}"/>
                </a:ext>
              </a:extLst>
            </p:cNvPr>
            <p:cNvSpPr txBox="1"/>
            <p:nvPr/>
          </p:nvSpPr>
          <p:spPr>
            <a:xfrm>
              <a:off x="334460" y="4766921"/>
              <a:ext cx="5430713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700" b="1" dirty="0">
                  <a:solidFill>
                    <a:srgbClr val="0000FF"/>
                  </a:solidFill>
                </a:rPr>
                <a:t>BLAKE3 : Merkle Tree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AA646CD-D4FB-9F69-9163-D0267918DD3C}"/>
                </a:ext>
              </a:extLst>
            </p:cNvPr>
            <p:cNvSpPr txBox="1"/>
            <p:nvPr/>
          </p:nvSpPr>
          <p:spPr>
            <a:xfrm>
              <a:off x="455998" y="5122420"/>
              <a:ext cx="5589417" cy="953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300" dirty="0"/>
                <a:t>- </a:t>
              </a:r>
              <a:r>
                <a:rPr lang="ko-KR" altLang="en-US" sz="1300" dirty="0"/>
                <a:t>입력 데이터를 블록으로 나누고 하나의 블록을 </a:t>
              </a:r>
              <a:r>
                <a:rPr lang="en-US" altLang="ko-KR" sz="1300" dirty="0"/>
                <a:t>chunk</a:t>
              </a:r>
              <a:r>
                <a:rPr lang="ko-KR" altLang="en-US" sz="1300" dirty="0"/>
                <a:t>로 분할</a:t>
              </a:r>
              <a:endParaRPr lang="en-US" altLang="ko-KR" sz="1300" dirty="0"/>
            </a:p>
            <a:p>
              <a:pPr>
                <a:lnSpc>
                  <a:spcPct val="150000"/>
                </a:lnSpc>
              </a:pPr>
              <a:r>
                <a:rPr lang="en-US" altLang="ko-KR" sz="1300" dirty="0"/>
                <a:t>- </a:t>
              </a:r>
              <a:r>
                <a:rPr lang="ko-KR" altLang="en-US" sz="1300" dirty="0"/>
                <a:t>각 </a:t>
              </a:r>
              <a:r>
                <a:rPr lang="en-US" altLang="ko-KR" sz="1300" dirty="0"/>
                <a:t>chunk</a:t>
              </a:r>
              <a:r>
                <a:rPr lang="ko-KR" altLang="en-US" sz="1300" dirty="0"/>
                <a:t>는 독립적으로 </a:t>
              </a:r>
              <a:r>
                <a:rPr lang="ko-KR" altLang="en-US" sz="1300" b="1" dirty="0">
                  <a:solidFill>
                    <a:srgbClr val="0000FF"/>
                  </a:solidFill>
                </a:rPr>
                <a:t>병렬 처리 처리 후 </a:t>
              </a:r>
              <a:r>
                <a:rPr lang="ko-KR" altLang="en-US" sz="1300" dirty="0"/>
                <a:t>부분 해시 값 출력</a:t>
              </a:r>
              <a:endParaRPr lang="en-US" altLang="ko-KR" sz="1300" dirty="0"/>
            </a:p>
            <a:p>
              <a:pPr>
                <a:lnSpc>
                  <a:spcPct val="150000"/>
                </a:lnSpc>
              </a:pPr>
              <a:r>
                <a:rPr lang="en-US" altLang="ko-KR" sz="1300" dirty="0"/>
                <a:t>- </a:t>
              </a:r>
              <a:r>
                <a:rPr lang="ko-KR" altLang="en-US" sz="1300" dirty="0"/>
                <a:t>각 부분 </a:t>
              </a:r>
              <a:r>
                <a:rPr lang="ko-KR" altLang="en-US" sz="1300" dirty="0" err="1"/>
                <a:t>해시값을</a:t>
              </a:r>
              <a:r>
                <a:rPr lang="ko-KR" altLang="en-US" sz="1300" dirty="0"/>
                <a:t> </a:t>
              </a:r>
              <a:r>
                <a:rPr lang="en-US" altLang="ko-KR" sz="1300" dirty="0"/>
                <a:t>log</a:t>
              </a:r>
              <a:r>
                <a:rPr lang="en-US" altLang="ko-KR" sz="1300" baseline="-25000" dirty="0"/>
                <a:t>2</a:t>
              </a:r>
              <a:r>
                <a:rPr lang="en-US" altLang="ko-KR" sz="1300" dirty="0"/>
                <a:t>(N) </a:t>
              </a:r>
              <a:r>
                <a:rPr lang="ko-KR" altLang="en-US" sz="1300" dirty="0"/>
                <a:t>깊이 만큼 순차 병합</a:t>
              </a:r>
              <a:endParaRPr lang="en-US" altLang="ko-KR" sz="1300" dirty="0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2FF3C7A4-D961-F72E-D3D2-693DA5894408}"/>
              </a:ext>
            </a:extLst>
          </p:cNvPr>
          <p:cNvGrpSpPr/>
          <p:nvPr/>
        </p:nvGrpSpPr>
        <p:grpSpPr>
          <a:xfrm>
            <a:off x="254006" y="3572097"/>
            <a:ext cx="5096587" cy="2710653"/>
            <a:chOff x="6563954" y="1100525"/>
            <a:chExt cx="5096587" cy="271065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9C8E5A5-FCA2-0FB7-931C-CFB1B09BF8AE}"/>
                </a:ext>
              </a:extLst>
            </p:cNvPr>
            <p:cNvSpPr/>
            <p:nvPr/>
          </p:nvSpPr>
          <p:spPr>
            <a:xfrm>
              <a:off x="7581333" y="1100525"/>
              <a:ext cx="3097764" cy="4321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Input Message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A93AD8A-1402-25D5-4258-7560842432A0}"/>
                </a:ext>
              </a:extLst>
            </p:cNvPr>
            <p:cNvSpPr/>
            <p:nvPr/>
          </p:nvSpPr>
          <p:spPr>
            <a:xfrm>
              <a:off x="7125968" y="2108553"/>
              <a:ext cx="886409" cy="43218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Block 1</a:t>
              </a:r>
              <a:endParaRPr lang="ko-KR" altLang="en-US" sz="1600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E71DFCA-08DE-A670-4741-A9A514B539CC}"/>
                </a:ext>
              </a:extLst>
            </p:cNvPr>
            <p:cNvSpPr/>
            <p:nvPr/>
          </p:nvSpPr>
          <p:spPr>
            <a:xfrm>
              <a:off x="8687010" y="2108553"/>
              <a:ext cx="886409" cy="43218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Block 2</a:t>
              </a:r>
              <a:endParaRPr lang="ko-KR" altLang="en-US" sz="1600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F64E298-7555-28D3-95F0-33E86524FEAF}"/>
                </a:ext>
              </a:extLst>
            </p:cNvPr>
            <p:cNvSpPr/>
            <p:nvPr/>
          </p:nvSpPr>
          <p:spPr>
            <a:xfrm>
              <a:off x="10235892" y="2108553"/>
              <a:ext cx="886409" cy="43218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Block 3</a:t>
              </a:r>
              <a:endParaRPr lang="ko-KR" altLang="en-US" sz="1600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24DC043-3A83-056A-45C8-38D19F7AC366}"/>
                </a:ext>
              </a:extLst>
            </p:cNvPr>
            <p:cNvSpPr/>
            <p:nvPr/>
          </p:nvSpPr>
          <p:spPr>
            <a:xfrm>
              <a:off x="6563954" y="2892981"/>
              <a:ext cx="627131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hash()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478E410-D1BD-E4BA-0CA1-E98594C46978}"/>
                </a:ext>
              </a:extLst>
            </p:cNvPr>
            <p:cNvSpPr/>
            <p:nvPr/>
          </p:nvSpPr>
          <p:spPr>
            <a:xfrm>
              <a:off x="7581334" y="2892981"/>
              <a:ext cx="431044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H</a:t>
              </a:r>
              <a:r>
                <a:rPr lang="en-US" altLang="ko-KR" sz="1100" b="1" baseline="-25000" dirty="0">
                  <a:solidFill>
                    <a:schemeClr val="tx1"/>
                  </a:solidFill>
                </a:rPr>
                <a:t>1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D14C91FA-9095-E633-9D83-F26F67D27B47}"/>
                </a:ext>
              </a:extLst>
            </p:cNvPr>
            <p:cNvCxnSpPr>
              <a:stCxn id="25" idx="2"/>
              <a:endCxn id="36" idx="0"/>
            </p:cNvCxnSpPr>
            <p:nvPr/>
          </p:nvCxnSpPr>
          <p:spPr>
            <a:xfrm flipH="1">
              <a:off x="6877520" y="2540741"/>
              <a:ext cx="691653" cy="3522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CFBBCD89-0067-5E04-23A2-F6119DCE28D2}"/>
                </a:ext>
              </a:extLst>
            </p:cNvPr>
            <p:cNvCxnSpPr>
              <a:cxnSpLocks/>
              <a:stCxn id="36" idx="3"/>
              <a:endCxn id="37" idx="1"/>
            </p:cNvCxnSpPr>
            <p:nvPr/>
          </p:nvCxnSpPr>
          <p:spPr>
            <a:xfrm>
              <a:off x="7191085" y="3077647"/>
              <a:ext cx="390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DFB012D-9B53-2C1D-4BF6-8BD1027176F7}"/>
                </a:ext>
              </a:extLst>
            </p:cNvPr>
            <p:cNvSpPr/>
            <p:nvPr/>
          </p:nvSpPr>
          <p:spPr>
            <a:xfrm>
              <a:off x="8373444" y="2892981"/>
              <a:ext cx="627131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hash()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34E5CAD-391B-8A50-583E-D32AABDF55DB}"/>
                </a:ext>
              </a:extLst>
            </p:cNvPr>
            <p:cNvSpPr/>
            <p:nvPr/>
          </p:nvSpPr>
          <p:spPr>
            <a:xfrm>
              <a:off x="9390824" y="2892981"/>
              <a:ext cx="431044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H</a:t>
              </a:r>
              <a:r>
                <a:rPr lang="en-US" altLang="ko-KR" sz="1100" b="1" baseline="-25000" dirty="0">
                  <a:solidFill>
                    <a:schemeClr val="tx1"/>
                  </a:solidFill>
                </a:rPr>
                <a:t>2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921AA745-490E-9E44-A8F2-8BFA3ABB8CB3}"/>
                </a:ext>
              </a:extLst>
            </p:cNvPr>
            <p:cNvCxnSpPr>
              <a:cxnSpLocks/>
              <a:stCxn id="48" idx="3"/>
              <a:endCxn id="49" idx="1"/>
            </p:cNvCxnSpPr>
            <p:nvPr/>
          </p:nvCxnSpPr>
          <p:spPr>
            <a:xfrm>
              <a:off x="9000575" y="3077647"/>
              <a:ext cx="390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55F24A76-6C4C-2220-D2A0-EA7505FF2ABB}"/>
                </a:ext>
              </a:extLst>
            </p:cNvPr>
            <p:cNvCxnSpPr>
              <a:cxnSpLocks/>
              <a:stCxn id="26" idx="2"/>
              <a:endCxn id="48" idx="0"/>
            </p:cNvCxnSpPr>
            <p:nvPr/>
          </p:nvCxnSpPr>
          <p:spPr>
            <a:xfrm flipH="1">
              <a:off x="8687010" y="2540741"/>
              <a:ext cx="443205" cy="3522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37F1B00C-27B9-CE84-55F5-4FC1E728CA09}"/>
                </a:ext>
              </a:extLst>
            </p:cNvPr>
            <p:cNvCxnSpPr>
              <a:cxnSpLocks/>
              <a:stCxn id="37" idx="3"/>
              <a:endCxn id="48" idx="1"/>
            </p:cNvCxnSpPr>
            <p:nvPr/>
          </p:nvCxnSpPr>
          <p:spPr>
            <a:xfrm>
              <a:off x="8012378" y="3077647"/>
              <a:ext cx="36106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F45C91D9-73B4-3F3F-7CFB-9EE1E723EB51}"/>
                </a:ext>
              </a:extLst>
            </p:cNvPr>
            <p:cNvSpPr/>
            <p:nvPr/>
          </p:nvSpPr>
          <p:spPr>
            <a:xfrm>
              <a:off x="10212117" y="2892981"/>
              <a:ext cx="627131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hash()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D772B6E4-A736-B918-491D-3BFD96056573}"/>
                </a:ext>
              </a:extLst>
            </p:cNvPr>
            <p:cNvSpPr/>
            <p:nvPr/>
          </p:nvSpPr>
          <p:spPr>
            <a:xfrm>
              <a:off x="11229497" y="2892981"/>
              <a:ext cx="431044" cy="3693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H</a:t>
              </a:r>
              <a:r>
                <a:rPr lang="en-US" altLang="ko-KR" sz="1100" b="1" baseline="-25000" dirty="0">
                  <a:solidFill>
                    <a:schemeClr val="tx1"/>
                  </a:solidFill>
                </a:rPr>
                <a:t>3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C04295ED-3293-9194-A72D-90D544F266D8}"/>
                </a:ext>
              </a:extLst>
            </p:cNvPr>
            <p:cNvCxnSpPr>
              <a:cxnSpLocks/>
              <a:stCxn id="68" idx="3"/>
              <a:endCxn id="69" idx="1"/>
            </p:cNvCxnSpPr>
            <p:nvPr/>
          </p:nvCxnSpPr>
          <p:spPr>
            <a:xfrm>
              <a:off x="10839248" y="3077647"/>
              <a:ext cx="390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1ABD3244-15B0-D12F-D8C3-F5C77C318BC1}"/>
                </a:ext>
              </a:extLst>
            </p:cNvPr>
            <p:cNvCxnSpPr>
              <a:cxnSpLocks/>
              <a:stCxn id="35" idx="2"/>
              <a:endCxn id="68" idx="0"/>
            </p:cNvCxnSpPr>
            <p:nvPr/>
          </p:nvCxnSpPr>
          <p:spPr>
            <a:xfrm flipH="1">
              <a:off x="10525683" y="2540741"/>
              <a:ext cx="153414" cy="3522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FCE6E905-F9A9-60EE-FFAF-1531CD154145}"/>
                </a:ext>
              </a:extLst>
            </p:cNvPr>
            <p:cNvCxnSpPr>
              <a:cxnSpLocks/>
              <a:stCxn id="49" idx="3"/>
              <a:endCxn id="68" idx="1"/>
            </p:cNvCxnSpPr>
            <p:nvPr/>
          </p:nvCxnSpPr>
          <p:spPr>
            <a:xfrm>
              <a:off x="9821868" y="3077647"/>
              <a:ext cx="390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482D04D4-24A5-A845-934B-37A8CAD122BA}"/>
                </a:ext>
              </a:extLst>
            </p:cNvPr>
            <p:cNvCxnSpPr>
              <a:cxnSpLocks/>
              <a:stCxn id="12" idx="2"/>
              <a:endCxn id="25" idx="0"/>
            </p:cNvCxnSpPr>
            <p:nvPr/>
          </p:nvCxnSpPr>
          <p:spPr>
            <a:xfrm flipH="1">
              <a:off x="7569173" y="1532713"/>
              <a:ext cx="1561042" cy="5758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AD637FDB-F897-E149-0A6E-83B599F96A05}"/>
                </a:ext>
              </a:extLst>
            </p:cNvPr>
            <p:cNvCxnSpPr>
              <a:cxnSpLocks/>
              <a:stCxn id="12" idx="2"/>
              <a:endCxn id="26" idx="0"/>
            </p:cNvCxnSpPr>
            <p:nvPr/>
          </p:nvCxnSpPr>
          <p:spPr>
            <a:xfrm>
              <a:off x="9130215" y="1532713"/>
              <a:ext cx="0" cy="5758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8638E679-435A-3504-594D-E47A5887E04D}"/>
                </a:ext>
              </a:extLst>
            </p:cNvPr>
            <p:cNvCxnSpPr>
              <a:cxnSpLocks/>
              <a:stCxn id="12" idx="2"/>
              <a:endCxn id="35" idx="0"/>
            </p:cNvCxnSpPr>
            <p:nvPr/>
          </p:nvCxnSpPr>
          <p:spPr>
            <a:xfrm>
              <a:off x="9130215" y="1532713"/>
              <a:ext cx="1548882" cy="5758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왼쪽 대괄호 84">
              <a:extLst>
                <a:ext uri="{FF2B5EF4-FFF2-40B4-BE49-F238E27FC236}">
                  <a16:creationId xmlns:a16="http://schemas.microsoft.com/office/drawing/2014/main" id="{6E0C85AC-F131-4A73-F62A-660977837B66}"/>
                </a:ext>
              </a:extLst>
            </p:cNvPr>
            <p:cNvSpPr/>
            <p:nvPr/>
          </p:nvSpPr>
          <p:spPr>
            <a:xfrm rot="16200000">
              <a:off x="9046829" y="896121"/>
              <a:ext cx="130839" cy="5096585"/>
            </a:xfrm>
            <a:prstGeom prst="lef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A50FED2-B7E5-8392-0492-4FE79460FD1F}"/>
                </a:ext>
              </a:extLst>
            </p:cNvPr>
            <p:cNvSpPr txBox="1"/>
            <p:nvPr/>
          </p:nvSpPr>
          <p:spPr>
            <a:xfrm>
              <a:off x="8804881" y="3595734"/>
              <a:ext cx="7030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/>
                <a:t>순차 처리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794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0B9F-BB78-2E31-ECE1-E6A52CC0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2C1BE-402E-6679-8DA2-C89CA79F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SIMD</a:t>
            </a:r>
            <a:endParaRPr kumimoji="1" lang="ko-Kore-KR" altLang="en-US" dirty="0">
              <a:solidFill>
                <a:srgbClr val="0000FF"/>
              </a:solidFill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89B274-3319-B893-2D36-65D4344F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/>
              <a:t>6</a:t>
            </a:fld>
            <a:endParaRPr lang="ko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D2E8AEB-08D6-6130-4B26-22EA1AE68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98" y="1325461"/>
            <a:ext cx="11279999" cy="165721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300" dirty="0">
                <a:solidFill>
                  <a:schemeClr val="tx1"/>
                </a:solidFill>
              </a:rPr>
              <a:t> 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86691C-F7A5-91A0-7E0A-77FDD0037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9A0754-E1AF-BF77-1E5A-B6B652BA984A}"/>
              </a:ext>
            </a:extLst>
          </p:cNvPr>
          <p:cNvSpPr txBox="1"/>
          <p:nvPr/>
        </p:nvSpPr>
        <p:spPr>
          <a:xfrm>
            <a:off x="1017036" y="3713594"/>
            <a:ext cx="133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71B6759-0240-ED59-712E-3D8A99020A65}"/>
              </a:ext>
            </a:extLst>
          </p:cNvPr>
          <p:cNvCxnSpPr>
            <a:cxnSpLocks/>
          </p:cNvCxnSpPr>
          <p:nvPr/>
        </p:nvCxnSpPr>
        <p:spPr>
          <a:xfrm>
            <a:off x="2351314" y="3916922"/>
            <a:ext cx="2985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1AAA44-F795-30A0-1770-04D188308CDB}"/>
              </a:ext>
            </a:extLst>
          </p:cNvPr>
          <p:cNvSpPr txBox="1"/>
          <p:nvPr/>
        </p:nvSpPr>
        <p:spPr>
          <a:xfrm>
            <a:off x="2649894" y="3593756"/>
            <a:ext cx="1334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Hash algorithm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A884391-837A-D927-5015-EB3016883464}"/>
              </a:ext>
            </a:extLst>
          </p:cNvPr>
          <p:cNvCxnSpPr>
            <a:cxnSpLocks/>
          </p:cNvCxnSpPr>
          <p:nvPr/>
        </p:nvCxnSpPr>
        <p:spPr>
          <a:xfrm>
            <a:off x="4061927" y="3916921"/>
            <a:ext cx="2985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B8B5E25-8317-5DBD-1127-A05FB998F2A0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272076" y="3321025"/>
            <a:ext cx="3088431" cy="272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00DA005-49B0-08CF-4465-8CB76C3500F3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4130351" y="1513734"/>
            <a:ext cx="442623" cy="1867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래픽 15" descr="확대 단색으로 채워진">
            <a:extLst>
              <a:ext uri="{FF2B5EF4-FFF2-40B4-BE49-F238E27FC236}">
                <a16:creationId xmlns:a16="http://schemas.microsoft.com/office/drawing/2014/main" id="{EC57B775-8C18-F098-4BAF-3FB6135838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0507" y="3381289"/>
            <a:ext cx="424934" cy="424934"/>
          </a:xfrm>
          <a:prstGeom prst="rect">
            <a:avLst/>
          </a:prstGeom>
        </p:spPr>
      </p:pic>
      <p:pic>
        <p:nvPicPr>
          <p:cNvPr id="28" name="그래픽 27" descr="프로세서 단색으로 채워진">
            <a:extLst>
              <a:ext uri="{FF2B5EF4-FFF2-40B4-BE49-F238E27FC236}">
                <a16:creationId xmlns:a16="http://schemas.microsoft.com/office/drawing/2014/main" id="{7C7BBB03-C206-0EA4-1D69-C61DF671AC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4790" y="3535359"/>
            <a:ext cx="914400" cy="91440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F584524-D88B-1B24-EB90-73EB5C2D6700}"/>
              </a:ext>
            </a:extLst>
          </p:cNvPr>
          <p:cNvSpPr/>
          <p:nvPr/>
        </p:nvSpPr>
        <p:spPr>
          <a:xfrm>
            <a:off x="942395" y="1513734"/>
            <a:ext cx="2799184" cy="16572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CB472C-0190-4B0E-0843-A8429E0F2760}"/>
              </a:ext>
            </a:extLst>
          </p:cNvPr>
          <p:cNvSpPr txBox="1"/>
          <p:nvPr/>
        </p:nvSpPr>
        <p:spPr>
          <a:xfrm>
            <a:off x="1889447" y="1557243"/>
            <a:ext cx="10730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ARM CPU</a:t>
            </a:r>
            <a:endParaRPr lang="ko-KR" alt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FAFC21-2BA9-2A7F-4F0F-A6298C6A29D8}"/>
              </a:ext>
            </a:extLst>
          </p:cNvPr>
          <p:cNvSpPr/>
          <p:nvPr/>
        </p:nvSpPr>
        <p:spPr>
          <a:xfrm>
            <a:off x="1291091" y="1906659"/>
            <a:ext cx="2073842" cy="308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SISD </a:t>
            </a:r>
            <a:r>
              <a:rPr lang="ko-KR" altLang="en-US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연산 유닛 </a:t>
            </a:r>
            <a:r>
              <a:rPr lang="en-US" altLang="ko-KR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(ALU)</a:t>
            </a:r>
            <a:endParaRPr lang="ko-KR" altLang="en-US" sz="13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D65309A-FA14-F8C7-357B-399E48442A52}"/>
              </a:ext>
            </a:extLst>
          </p:cNvPr>
          <p:cNvSpPr/>
          <p:nvPr/>
        </p:nvSpPr>
        <p:spPr>
          <a:xfrm>
            <a:off x="1291091" y="2422021"/>
            <a:ext cx="2073842" cy="3149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SIMD </a:t>
            </a:r>
            <a:r>
              <a:rPr lang="ko-KR" altLang="en-US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연산 유닛 </a:t>
            </a:r>
            <a:r>
              <a:rPr lang="en-US" altLang="ko-KR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(NEON)</a:t>
            </a:r>
            <a:endParaRPr lang="ko-KR" altLang="en-US" sz="13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E2F3225-DD93-3881-5973-595EBAE0C01B}"/>
              </a:ext>
            </a:extLst>
          </p:cNvPr>
          <p:cNvCxnSpPr>
            <a:cxnSpLocks/>
            <a:stCxn id="31" idx="3"/>
            <a:endCxn id="32" idx="3"/>
          </p:cNvCxnSpPr>
          <p:nvPr/>
        </p:nvCxnSpPr>
        <p:spPr>
          <a:xfrm>
            <a:off x="3364933" y="2061037"/>
            <a:ext cx="12700" cy="518465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858FE183-B93F-A3D3-FE45-4D685C4AA182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3728879" y="2307288"/>
            <a:ext cx="1633111" cy="122807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22E86E8-D329-8009-0016-FBDC364535EE}"/>
              </a:ext>
            </a:extLst>
          </p:cNvPr>
          <p:cNvSpPr txBox="1"/>
          <p:nvPr/>
        </p:nvSpPr>
        <p:spPr>
          <a:xfrm>
            <a:off x="4351662" y="1853318"/>
            <a:ext cx="331560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컴파일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실행환경에 따라 연산 유닛 결정</a:t>
            </a: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CF350DE5-0C5C-4E82-6E9F-0C5DF1DEB8FF}"/>
              </a:ext>
            </a:extLst>
          </p:cNvPr>
          <p:cNvCxnSpPr>
            <a:cxnSpLocks/>
            <a:stCxn id="28" idx="3"/>
            <a:endCxn id="53" idx="1"/>
          </p:cNvCxnSpPr>
          <p:nvPr/>
        </p:nvCxnSpPr>
        <p:spPr>
          <a:xfrm flipV="1">
            <a:off x="5819190" y="3072388"/>
            <a:ext cx="1183047" cy="9201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6931441C-2A9B-28C8-E67B-C6A6CBB149F1}"/>
              </a:ext>
            </a:extLst>
          </p:cNvPr>
          <p:cNvCxnSpPr>
            <a:cxnSpLocks/>
            <a:stCxn id="28" idx="3"/>
            <a:endCxn id="55" idx="1"/>
          </p:cNvCxnSpPr>
          <p:nvPr/>
        </p:nvCxnSpPr>
        <p:spPr>
          <a:xfrm>
            <a:off x="5819190" y="3992559"/>
            <a:ext cx="1183047" cy="7179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78EA4FA-34EF-3E82-7080-0D4997810DA1}"/>
              </a:ext>
            </a:extLst>
          </p:cNvPr>
          <p:cNvSpPr/>
          <p:nvPr/>
        </p:nvSpPr>
        <p:spPr>
          <a:xfrm>
            <a:off x="7002237" y="2811604"/>
            <a:ext cx="1633111" cy="521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SISD </a:t>
            </a:r>
            <a:r>
              <a:rPr lang="ko-KR" altLang="en-US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스칼라 연산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79312EC-F4E7-AC58-7598-F2D372695E2E}"/>
              </a:ext>
            </a:extLst>
          </p:cNvPr>
          <p:cNvSpPr/>
          <p:nvPr/>
        </p:nvSpPr>
        <p:spPr>
          <a:xfrm>
            <a:off x="7002237" y="4449759"/>
            <a:ext cx="1676789" cy="521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SLMD </a:t>
            </a:r>
            <a:r>
              <a:rPr lang="ko-KR" altLang="en-US" sz="13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벡터 연산</a:t>
            </a:r>
          </a:p>
        </p:txBody>
      </p:sp>
    </p:spTree>
    <p:extLst>
      <p:ext uri="{BB962C8B-B14F-4D97-AF65-F5344CB8AC3E}">
        <p14:creationId xmlns:p14="http://schemas.microsoft.com/office/powerpoint/2010/main" val="86299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4F90-DD92-A56A-84A8-5AAC18B41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CD5BE-03C6-B9BB-BF5B-92C28EB8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99" y="156844"/>
            <a:ext cx="11279999" cy="540512"/>
          </a:xfrm>
        </p:spPr>
        <p:txBody>
          <a:bodyPr/>
          <a:lstStyle/>
          <a:p>
            <a:r>
              <a:rPr lang="en-US" altLang="ko-KR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BLAKE3 – </a:t>
            </a:r>
            <a:r>
              <a:rPr lang="ko-KR" altLang="en-US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구조적 특성 </a:t>
            </a:r>
            <a:r>
              <a:rPr lang="en-US" altLang="ko-KR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(3) ARM </a:t>
            </a:r>
            <a:r>
              <a:rPr lang="ko-KR" altLang="en-US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환경 맞춤 설계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783FCE8-9ADB-F28B-78FF-4B1C1FF87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908" y="847877"/>
            <a:ext cx="11192919" cy="506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BLAKE3 SIMD</a:t>
            </a: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에 최적화된 구조로 설계</a:t>
            </a:r>
            <a:endParaRPr lang="en-US" altLang="ko-KR" sz="18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AAD3D6EA-2D78-CD95-AF7C-B3B83732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30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30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640F8E1-E651-9F26-57DF-2A8320FE9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AE4A7F-C77D-AA90-2525-6EF84298F309}"/>
              </a:ext>
            </a:extLst>
          </p:cNvPr>
          <p:cNvSpPr txBox="1"/>
          <p:nvPr/>
        </p:nvSpPr>
        <p:spPr>
          <a:xfrm>
            <a:off x="5298796" y="5054964"/>
            <a:ext cx="318629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(b) Single Instruction Multiple Data</a:t>
            </a:r>
          </a:p>
          <a:p>
            <a:endParaRPr lang="en-US" altLang="ko-KR" sz="1300" dirty="0">
              <a:latin typeface="+mn-ea"/>
            </a:endParaRPr>
          </a:p>
          <a:p>
            <a:r>
              <a:rPr lang="ko-KR" altLang="en-US" sz="1300" dirty="0">
                <a:latin typeface="+mn-ea"/>
              </a:rPr>
              <a:t>하나의 명령어로 여러 연산 동시 처리</a:t>
            </a:r>
            <a:endParaRPr lang="en-US" altLang="ko-KR" sz="1300" dirty="0">
              <a:latin typeface="+mn-ea"/>
            </a:endParaRPr>
          </a:p>
          <a:p>
            <a:r>
              <a:rPr lang="en-US" altLang="ko-KR" sz="1300" dirty="0">
                <a:latin typeface="+mn-ea"/>
              </a:rPr>
              <a:t>C</a:t>
            </a:r>
            <a:r>
              <a:rPr lang="en-US" altLang="ko-KR" sz="1300" baseline="-25000" dirty="0">
                <a:latin typeface="+mn-ea"/>
              </a:rPr>
              <a:t>0</a:t>
            </a:r>
            <a:r>
              <a:rPr lang="en-US" altLang="ko-KR" sz="1300" dirty="0">
                <a:latin typeface="+mn-ea"/>
              </a:rPr>
              <a:t>~C</a:t>
            </a:r>
            <a:r>
              <a:rPr lang="en-US" altLang="ko-KR" sz="1300" baseline="-25000" dirty="0">
                <a:latin typeface="+mn-ea"/>
              </a:rPr>
              <a:t>3 </a:t>
            </a:r>
            <a:r>
              <a:rPr lang="ko-KR" altLang="en-US" sz="1300" dirty="0">
                <a:latin typeface="+mn-ea"/>
              </a:rPr>
              <a:t>결과를 위해 </a:t>
            </a:r>
            <a:r>
              <a:rPr lang="en-US" altLang="ko-KR" sz="1300" dirty="0">
                <a:latin typeface="+mn-ea"/>
              </a:rPr>
              <a:t>Vector </a:t>
            </a:r>
            <a:r>
              <a:rPr lang="ko-KR" altLang="en-US" sz="1300" dirty="0">
                <a:latin typeface="+mn-ea"/>
              </a:rPr>
              <a:t>연산 </a:t>
            </a:r>
            <a:r>
              <a:rPr lang="en-US" altLang="ko-KR" sz="1300" dirty="0">
                <a:latin typeface="+mn-ea"/>
              </a:rPr>
              <a:t>1</a:t>
            </a:r>
            <a:r>
              <a:rPr lang="ko-KR" altLang="en-US" sz="1300" dirty="0">
                <a:latin typeface="+mn-ea"/>
              </a:rPr>
              <a:t>개 필요</a:t>
            </a:r>
            <a:endParaRPr lang="en-US" altLang="ko-KR" sz="13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110343-91A1-3FF7-3625-077A0730BD57}"/>
              </a:ext>
            </a:extLst>
          </p:cNvPr>
          <p:cNvSpPr txBox="1"/>
          <p:nvPr/>
        </p:nvSpPr>
        <p:spPr>
          <a:xfrm>
            <a:off x="5215085" y="1612427"/>
            <a:ext cx="359510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solidFill>
                  <a:srgbClr val="0000FF"/>
                </a:solidFill>
              </a:rPr>
              <a:t>(b) SIMD Operation </a:t>
            </a:r>
            <a:r>
              <a:rPr lang="ko-KR" altLang="en-US" sz="1700" b="1" dirty="0">
                <a:solidFill>
                  <a:srgbClr val="0000FF"/>
                </a:solidFill>
              </a:rPr>
              <a:t>벡터 연산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DDA27B9-3FF7-9ECA-20C4-54D6249784CD}"/>
              </a:ext>
            </a:extLst>
          </p:cNvPr>
          <p:cNvSpPr/>
          <p:nvPr/>
        </p:nvSpPr>
        <p:spPr>
          <a:xfrm>
            <a:off x="5605103" y="2484059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0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988C70-A1F4-6718-9730-1CE59FCDC711}"/>
              </a:ext>
            </a:extLst>
          </p:cNvPr>
          <p:cNvSpPr/>
          <p:nvPr/>
        </p:nvSpPr>
        <p:spPr>
          <a:xfrm>
            <a:off x="6529369" y="2484059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0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87C2EF-57ED-91FF-0447-8FD5B8F30AF7}"/>
              </a:ext>
            </a:extLst>
          </p:cNvPr>
          <p:cNvSpPr/>
          <p:nvPr/>
        </p:nvSpPr>
        <p:spPr>
          <a:xfrm>
            <a:off x="7580316" y="2484059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0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120AB26-7492-78D0-621A-545A757C2C45}"/>
              </a:ext>
            </a:extLst>
          </p:cNvPr>
          <p:cNvSpPr/>
          <p:nvPr/>
        </p:nvSpPr>
        <p:spPr>
          <a:xfrm>
            <a:off x="5596308" y="2974977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1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3CCCF8-81A4-3F7B-F1B8-56FF03F64E1F}"/>
              </a:ext>
            </a:extLst>
          </p:cNvPr>
          <p:cNvSpPr txBox="1"/>
          <p:nvPr/>
        </p:nvSpPr>
        <p:spPr>
          <a:xfrm>
            <a:off x="6148791" y="3313069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+</a:t>
            </a:r>
            <a:endParaRPr lang="ko-KR" altLang="en-US" sz="13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978E10F-80A5-52BA-EC9E-92020D43F2A8}"/>
              </a:ext>
            </a:extLst>
          </p:cNvPr>
          <p:cNvSpPr/>
          <p:nvPr/>
        </p:nvSpPr>
        <p:spPr>
          <a:xfrm>
            <a:off x="6529369" y="2974977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1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307453-2F56-8FDF-5983-581E1FADB1BF}"/>
              </a:ext>
            </a:extLst>
          </p:cNvPr>
          <p:cNvSpPr txBox="1"/>
          <p:nvPr/>
        </p:nvSpPr>
        <p:spPr>
          <a:xfrm>
            <a:off x="7166962" y="3285359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=</a:t>
            </a:r>
            <a:endParaRPr lang="ko-KR" altLang="en-US" sz="13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19A4161-F58F-0760-9E14-522AD36373DD}"/>
              </a:ext>
            </a:extLst>
          </p:cNvPr>
          <p:cNvSpPr/>
          <p:nvPr/>
        </p:nvSpPr>
        <p:spPr>
          <a:xfrm>
            <a:off x="7580620" y="2974977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1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27D4FDF-DE8B-E0C2-8357-366DF6EC0A64}"/>
              </a:ext>
            </a:extLst>
          </p:cNvPr>
          <p:cNvSpPr/>
          <p:nvPr/>
        </p:nvSpPr>
        <p:spPr>
          <a:xfrm>
            <a:off x="5596308" y="3456266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2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F9C4443-133E-A81D-3322-C55DA9708731}"/>
              </a:ext>
            </a:extLst>
          </p:cNvPr>
          <p:cNvSpPr/>
          <p:nvPr/>
        </p:nvSpPr>
        <p:spPr>
          <a:xfrm>
            <a:off x="6529369" y="3470025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2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B316F0C-7AED-418C-E36F-216235181201}"/>
              </a:ext>
            </a:extLst>
          </p:cNvPr>
          <p:cNvSpPr/>
          <p:nvPr/>
        </p:nvSpPr>
        <p:spPr>
          <a:xfrm>
            <a:off x="7580620" y="3456266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2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741423-261B-E77F-7CB0-959ADC36538A}"/>
              </a:ext>
            </a:extLst>
          </p:cNvPr>
          <p:cNvSpPr/>
          <p:nvPr/>
        </p:nvSpPr>
        <p:spPr>
          <a:xfrm>
            <a:off x="5596308" y="3947184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3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16466A8-9671-AEEF-EA07-DA14AC1674AA}"/>
              </a:ext>
            </a:extLst>
          </p:cNvPr>
          <p:cNvSpPr/>
          <p:nvPr/>
        </p:nvSpPr>
        <p:spPr>
          <a:xfrm>
            <a:off x="6529369" y="3967343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3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8967FD8-CADD-AFFB-0FBA-A05F928BABAA}"/>
              </a:ext>
            </a:extLst>
          </p:cNvPr>
          <p:cNvSpPr/>
          <p:nvPr/>
        </p:nvSpPr>
        <p:spPr>
          <a:xfrm>
            <a:off x="7580620" y="3959312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3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511DCE-EF90-9835-EA38-7C07B67FF127}"/>
              </a:ext>
            </a:extLst>
          </p:cNvPr>
          <p:cNvSpPr txBox="1"/>
          <p:nvPr/>
        </p:nvSpPr>
        <p:spPr>
          <a:xfrm>
            <a:off x="4889163" y="3314225"/>
            <a:ext cx="805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vector</a:t>
            </a:r>
            <a:r>
              <a:rPr lang="ko-KR" altLang="en-US" sz="1000" dirty="0"/>
              <a:t> </a:t>
            </a:r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91774-CE66-602F-E97D-8D9325FE1724}"/>
              </a:ext>
            </a:extLst>
          </p:cNvPr>
          <p:cNvSpPr txBox="1"/>
          <p:nvPr/>
        </p:nvSpPr>
        <p:spPr>
          <a:xfrm>
            <a:off x="455999" y="1586382"/>
            <a:ext cx="371729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/>
              <a:t>(a) SISD Operation  </a:t>
            </a:r>
            <a:r>
              <a:rPr lang="ko-KR" altLang="en-US" sz="1700" b="1" dirty="0"/>
              <a:t>스칼라 연산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F9E587-682B-6082-EE9E-859D7F275F28}"/>
              </a:ext>
            </a:extLst>
          </p:cNvPr>
          <p:cNvSpPr/>
          <p:nvPr/>
        </p:nvSpPr>
        <p:spPr>
          <a:xfrm>
            <a:off x="1194973" y="2145121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0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F5C0C1-5CC0-B741-69C8-C8492190023A}"/>
              </a:ext>
            </a:extLst>
          </p:cNvPr>
          <p:cNvSpPr txBox="1"/>
          <p:nvPr/>
        </p:nvSpPr>
        <p:spPr>
          <a:xfrm>
            <a:off x="1753151" y="2242743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+</a:t>
            </a:r>
            <a:endParaRPr lang="ko-KR" altLang="en-US" sz="13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C05E79-162C-CB6E-76B4-5D90403039FA}"/>
              </a:ext>
            </a:extLst>
          </p:cNvPr>
          <p:cNvSpPr/>
          <p:nvPr/>
        </p:nvSpPr>
        <p:spPr>
          <a:xfrm>
            <a:off x="2128034" y="2145121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0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C5843-63D0-92C7-7F8D-469DACAEDC28}"/>
              </a:ext>
            </a:extLst>
          </p:cNvPr>
          <p:cNvSpPr txBox="1"/>
          <p:nvPr/>
        </p:nvSpPr>
        <p:spPr>
          <a:xfrm>
            <a:off x="2781177" y="2229813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=</a:t>
            </a:r>
            <a:endParaRPr lang="ko-KR" altLang="en-US" sz="13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D31771-6A3C-1DC9-ACC5-FD090BC50851}"/>
              </a:ext>
            </a:extLst>
          </p:cNvPr>
          <p:cNvSpPr/>
          <p:nvPr/>
        </p:nvSpPr>
        <p:spPr>
          <a:xfrm>
            <a:off x="3179285" y="2145121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0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CBFAF5-7445-14D0-7777-78259A8D1C59}"/>
              </a:ext>
            </a:extLst>
          </p:cNvPr>
          <p:cNvSpPr/>
          <p:nvPr/>
        </p:nvSpPr>
        <p:spPr>
          <a:xfrm>
            <a:off x="1194973" y="2831846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1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C5322-AB66-3266-18F9-6531C74040D2}"/>
              </a:ext>
            </a:extLst>
          </p:cNvPr>
          <p:cNvSpPr txBox="1"/>
          <p:nvPr/>
        </p:nvSpPr>
        <p:spPr>
          <a:xfrm>
            <a:off x="1753151" y="2909148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+</a:t>
            </a:r>
            <a:endParaRPr lang="ko-KR" altLang="en-US" sz="13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954B5A-51C4-E3B3-8B37-8A7246E88A50}"/>
              </a:ext>
            </a:extLst>
          </p:cNvPr>
          <p:cNvSpPr/>
          <p:nvPr/>
        </p:nvSpPr>
        <p:spPr>
          <a:xfrm>
            <a:off x="2128034" y="2831846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1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366DF1-ECF4-0D51-3BB2-ED68C006AF16}"/>
              </a:ext>
            </a:extLst>
          </p:cNvPr>
          <p:cNvSpPr txBox="1"/>
          <p:nvPr/>
        </p:nvSpPr>
        <p:spPr>
          <a:xfrm>
            <a:off x="2781177" y="2888828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=</a:t>
            </a:r>
            <a:endParaRPr lang="ko-KR" altLang="en-US" sz="13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5B63DC-4ACC-E418-5280-CA170A24E583}"/>
              </a:ext>
            </a:extLst>
          </p:cNvPr>
          <p:cNvSpPr/>
          <p:nvPr/>
        </p:nvSpPr>
        <p:spPr>
          <a:xfrm>
            <a:off x="3179285" y="2831846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1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0E22A6-4D69-A6C3-2D02-75E6B7994891}"/>
              </a:ext>
            </a:extLst>
          </p:cNvPr>
          <p:cNvSpPr/>
          <p:nvPr/>
        </p:nvSpPr>
        <p:spPr>
          <a:xfrm>
            <a:off x="1194973" y="3575553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2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C3A167-C2FE-DF3A-E568-465D4DE2F2A3}"/>
              </a:ext>
            </a:extLst>
          </p:cNvPr>
          <p:cNvSpPr txBox="1"/>
          <p:nvPr/>
        </p:nvSpPr>
        <p:spPr>
          <a:xfrm>
            <a:off x="1753151" y="3652855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+</a:t>
            </a:r>
            <a:endParaRPr lang="ko-KR" altLang="en-US" sz="13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812A5AC-C5E8-86F3-0337-D49B53D84E50}"/>
              </a:ext>
            </a:extLst>
          </p:cNvPr>
          <p:cNvSpPr/>
          <p:nvPr/>
        </p:nvSpPr>
        <p:spPr>
          <a:xfrm>
            <a:off x="2128034" y="3575553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2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3A6B44-6C13-D3D1-27F7-416B09F1276D}"/>
              </a:ext>
            </a:extLst>
          </p:cNvPr>
          <p:cNvSpPr txBox="1"/>
          <p:nvPr/>
        </p:nvSpPr>
        <p:spPr>
          <a:xfrm>
            <a:off x="2781177" y="3632535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=</a:t>
            </a:r>
            <a:endParaRPr lang="ko-KR" altLang="en-US" sz="13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6FB6432-3215-A86B-8E35-DFEA8A6528D5}"/>
              </a:ext>
            </a:extLst>
          </p:cNvPr>
          <p:cNvSpPr/>
          <p:nvPr/>
        </p:nvSpPr>
        <p:spPr>
          <a:xfrm>
            <a:off x="3179285" y="3575553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2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F4190F-22D4-C797-BFF3-1334BA564F85}"/>
              </a:ext>
            </a:extLst>
          </p:cNvPr>
          <p:cNvSpPr txBox="1"/>
          <p:nvPr/>
        </p:nvSpPr>
        <p:spPr>
          <a:xfrm>
            <a:off x="1753151" y="4368386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+</a:t>
            </a:r>
            <a:endParaRPr lang="ko-KR" altLang="en-US" sz="13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6D0D53-A4CA-ACB0-EB31-DA5226838F37}"/>
              </a:ext>
            </a:extLst>
          </p:cNvPr>
          <p:cNvSpPr/>
          <p:nvPr/>
        </p:nvSpPr>
        <p:spPr>
          <a:xfrm>
            <a:off x="2128034" y="4270764"/>
            <a:ext cx="503853" cy="497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B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3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02DDF8-096E-A65B-2AB3-DF2F71642DA0}"/>
              </a:ext>
            </a:extLst>
          </p:cNvPr>
          <p:cNvSpPr txBox="1"/>
          <p:nvPr/>
        </p:nvSpPr>
        <p:spPr>
          <a:xfrm>
            <a:off x="2781177" y="4327746"/>
            <a:ext cx="279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=</a:t>
            </a:r>
            <a:endParaRPr lang="ko-KR" altLang="en-US" sz="13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B0520C-4127-514B-8E7A-01372CC94890}"/>
              </a:ext>
            </a:extLst>
          </p:cNvPr>
          <p:cNvSpPr/>
          <p:nvPr/>
        </p:nvSpPr>
        <p:spPr>
          <a:xfrm>
            <a:off x="3179285" y="4270764"/>
            <a:ext cx="503853" cy="49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3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66F977-C515-9DBF-0A6C-0FC0836953FD}"/>
              </a:ext>
            </a:extLst>
          </p:cNvPr>
          <p:cNvSpPr/>
          <p:nvPr/>
        </p:nvSpPr>
        <p:spPr>
          <a:xfrm>
            <a:off x="1194973" y="4270764"/>
            <a:ext cx="503853" cy="497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00" dirty="0">
                <a:solidFill>
                  <a:sysClr val="windowText" lastClr="000000"/>
                </a:solidFill>
              </a:rPr>
              <a:t>A</a:t>
            </a:r>
            <a:r>
              <a:rPr lang="en-US" altLang="ko-KR" sz="1300" baseline="-25000" dirty="0">
                <a:solidFill>
                  <a:sysClr val="windowText" lastClr="000000"/>
                </a:solidFill>
              </a:rPr>
              <a:t>3</a:t>
            </a:r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CDF13D-F4F1-A8A1-90ED-B3F25BB7AD27}"/>
              </a:ext>
            </a:extLst>
          </p:cNvPr>
          <p:cNvSpPr txBox="1"/>
          <p:nvPr/>
        </p:nvSpPr>
        <p:spPr>
          <a:xfrm>
            <a:off x="785300" y="5106973"/>
            <a:ext cx="46683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+mn-ea"/>
              </a:rPr>
              <a:t>(a) Single Instruction Single Data</a:t>
            </a:r>
          </a:p>
          <a:p>
            <a:endParaRPr lang="en-US" altLang="ko-KR" sz="1300" u="sng" dirty="0">
              <a:latin typeface="+mn-ea"/>
            </a:endParaRPr>
          </a:p>
          <a:p>
            <a:r>
              <a:rPr lang="ko-KR" altLang="en-US" sz="1300" dirty="0">
                <a:latin typeface="+mn-ea"/>
              </a:rPr>
              <a:t>하나의 명령어로 단일 연산 처리</a:t>
            </a:r>
            <a:endParaRPr lang="en-US" altLang="ko-KR" sz="1300" dirty="0">
              <a:latin typeface="+mn-ea"/>
            </a:endParaRPr>
          </a:p>
          <a:p>
            <a:r>
              <a:rPr lang="en-US" altLang="ko-KR" sz="1300" dirty="0">
                <a:latin typeface="+mn-ea"/>
              </a:rPr>
              <a:t>C</a:t>
            </a:r>
            <a:r>
              <a:rPr lang="en-US" altLang="ko-KR" sz="1300" baseline="-25000" dirty="0">
                <a:latin typeface="+mn-ea"/>
              </a:rPr>
              <a:t>0</a:t>
            </a:r>
            <a:r>
              <a:rPr lang="en-US" altLang="ko-KR" sz="1300" dirty="0">
                <a:latin typeface="+mn-ea"/>
              </a:rPr>
              <a:t>~C</a:t>
            </a:r>
            <a:r>
              <a:rPr lang="en-US" altLang="ko-KR" sz="1300" baseline="-25000" dirty="0">
                <a:latin typeface="+mn-ea"/>
              </a:rPr>
              <a:t>3</a:t>
            </a:r>
            <a:r>
              <a:rPr lang="en-US" altLang="ko-KR" sz="1300" dirty="0">
                <a:latin typeface="+mn-ea"/>
              </a:rPr>
              <a:t> </a:t>
            </a:r>
            <a:r>
              <a:rPr lang="ko-KR" altLang="en-US" sz="1300" dirty="0">
                <a:latin typeface="+mn-ea"/>
              </a:rPr>
              <a:t>결과를 위해 </a:t>
            </a:r>
            <a:r>
              <a:rPr lang="en-US" altLang="ko-KR" sz="1300" dirty="0">
                <a:latin typeface="+mn-ea"/>
              </a:rPr>
              <a:t>Scalar </a:t>
            </a:r>
            <a:r>
              <a:rPr lang="ko-KR" altLang="en-US" sz="1300" dirty="0">
                <a:latin typeface="+mn-ea"/>
              </a:rPr>
              <a:t>연산 </a:t>
            </a:r>
            <a:r>
              <a:rPr lang="en-US" altLang="ko-KR" sz="1300" dirty="0">
                <a:latin typeface="+mn-ea"/>
              </a:rPr>
              <a:t>4</a:t>
            </a:r>
            <a:r>
              <a:rPr lang="ko-KR" altLang="en-US" sz="1300" dirty="0">
                <a:latin typeface="+mn-ea"/>
              </a:rPr>
              <a:t>개 필요</a:t>
            </a:r>
            <a:endParaRPr lang="en-US" altLang="ko-KR" sz="1300" dirty="0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F737DC-BD7E-4959-E445-D7B8D23DC472}"/>
              </a:ext>
            </a:extLst>
          </p:cNvPr>
          <p:cNvSpPr/>
          <p:nvPr/>
        </p:nvSpPr>
        <p:spPr>
          <a:xfrm>
            <a:off x="1201090" y="2123186"/>
            <a:ext cx="1430798" cy="519151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02E0AA-B923-1D8D-C0D2-FA066D251A83}"/>
              </a:ext>
            </a:extLst>
          </p:cNvPr>
          <p:cNvSpPr txBox="1"/>
          <p:nvPr/>
        </p:nvSpPr>
        <p:spPr>
          <a:xfrm>
            <a:off x="516286" y="2275603"/>
            <a:ext cx="647585" cy="24622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scalar 1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149AB09-81F3-64D0-7724-CD3A0BA59EA7}"/>
              </a:ext>
            </a:extLst>
          </p:cNvPr>
          <p:cNvSpPr/>
          <p:nvPr/>
        </p:nvSpPr>
        <p:spPr>
          <a:xfrm>
            <a:off x="1201090" y="2824353"/>
            <a:ext cx="1430798" cy="519151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B68EEF-5578-C9C6-4A52-4E8FEAD5692D}"/>
              </a:ext>
            </a:extLst>
          </p:cNvPr>
          <p:cNvSpPr txBox="1"/>
          <p:nvPr/>
        </p:nvSpPr>
        <p:spPr>
          <a:xfrm>
            <a:off x="521316" y="2988259"/>
            <a:ext cx="647585" cy="24622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scalar 2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45B9ACC-8FE3-C64F-F64A-C745E2EE73AF}"/>
              </a:ext>
            </a:extLst>
          </p:cNvPr>
          <p:cNvSpPr/>
          <p:nvPr/>
        </p:nvSpPr>
        <p:spPr>
          <a:xfrm>
            <a:off x="1201090" y="3589528"/>
            <a:ext cx="1430798" cy="483343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BFFC2F-BCE5-73FC-3029-1842139D001E}"/>
              </a:ext>
            </a:extLst>
          </p:cNvPr>
          <p:cNvSpPr txBox="1"/>
          <p:nvPr/>
        </p:nvSpPr>
        <p:spPr>
          <a:xfrm>
            <a:off x="516286" y="3735915"/>
            <a:ext cx="647585" cy="24622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scalar 3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ED63442-FE6A-2E9E-B1AE-88CC2F9C90E4}"/>
              </a:ext>
            </a:extLst>
          </p:cNvPr>
          <p:cNvSpPr/>
          <p:nvPr/>
        </p:nvSpPr>
        <p:spPr>
          <a:xfrm>
            <a:off x="1201090" y="4270765"/>
            <a:ext cx="1446348" cy="497318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979325-5DD9-D71E-9A98-551C708B1983}"/>
              </a:ext>
            </a:extLst>
          </p:cNvPr>
          <p:cNvSpPr txBox="1"/>
          <p:nvPr/>
        </p:nvSpPr>
        <p:spPr>
          <a:xfrm>
            <a:off x="516286" y="4439628"/>
            <a:ext cx="647585" cy="24622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scalar 4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8437463-C025-0F50-4F3E-C6F5027A217D}"/>
              </a:ext>
            </a:extLst>
          </p:cNvPr>
          <p:cNvSpPr/>
          <p:nvPr/>
        </p:nvSpPr>
        <p:spPr>
          <a:xfrm>
            <a:off x="5596307" y="2462226"/>
            <a:ext cx="1436915" cy="1994404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FD6AF-9C3F-C629-710E-A27534850B3A}"/>
              </a:ext>
            </a:extLst>
          </p:cNvPr>
          <p:cNvSpPr txBox="1"/>
          <p:nvPr/>
        </p:nvSpPr>
        <p:spPr>
          <a:xfrm>
            <a:off x="8807881" y="2299393"/>
            <a:ext cx="97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BLAKE3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E206A-1B07-4034-E70D-1660E4E89482}"/>
              </a:ext>
            </a:extLst>
          </p:cNvPr>
          <p:cNvSpPr txBox="1"/>
          <p:nvPr/>
        </p:nvSpPr>
        <p:spPr>
          <a:xfrm>
            <a:off x="8807881" y="2718293"/>
            <a:ext cx="29281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병렬처리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Merkle Tree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구조로 설계되어 높은 연산 성능 보여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다른 해시 함수에 비해</a:t>
            </a:r>
            <a:b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ARM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 성능 효율 증가</a:t>
            </a:r>
          </a:p>
        </p:txBody>
      </p:sp>
    </p:spTree>
    <p:extLst>
      <p:ext uri="{BB962C8B-B14F-4D97-AF65-F5344CB8AC3E}">
        <p14:creationId xmlns:p14="http://schemas.microsoft.com/office/powerpoint/2010/main" val="1620502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A19A9-BC02-D7B3-DDA7-233572537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4D7A3-0BE3-7A94-0701-D2247CE3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FF"/>
                </a:solidFill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연구 방법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876D624-0F35-1AA0-B001-99FCF93A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99" y="2551471"/>
            <a:ext cx="11279999" cy="2987180"/>
          </a:xfrm>
        </p:spPr>
        <p:txBody>
          <a:bodyPr>
            <a:normAutofit/>
          </a:bodyPr>
          <a:lstStyle/>
          <a:p>
            <a:pPr marL="266700" lvl="1" indent="0">
              <a:buNone/>
            </a:pP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실험 조건 </a:t>
            </a:r>
            <a:endParaRPr lang="en-US" altLang="ko-KR" sz="17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266700" lvl="1" indent="0">
              <a:buNone/>
            </a:pPr>
            <a:r>
              <a:rPr lang="ko-KR" altLang="en-US" sz="13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-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파일 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: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랜덤 생성된 바이너리 파일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1, 10, 100, 500, 1000 MB</a:t>
            </a:r>
          </a:p>
          <a:p>
            <a:pPr marL="266700" lvl="1" indent="0">
              <a:buNone/>
            </a:pP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-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알고리즘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: SHA-256, SHA3-256, BLAKE2S, BLAKE2B, BLAKE3</a:t>
            </a:r>
          </a:p>
          <a:p>
            <a:pPr marL="266700" lvl="1" indent="0">
              <a:lnSpc>
                <a:spcPct val="100000"/>
              </a:lnSpc>
              <a:buNone/>
            </a:pP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-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실험 환경 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: </a:t>
            </a:r>
            <a:r>
              <a:rPr lang="ko-KR" altLang="en-US" sz="13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라즈베리파이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3 B</a:t>
            </a:r>
            <a:r>
              <a:rPr lang="en-US" altLang="ko-KR" sz="1300" baseline="300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+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/ OS : Ubuntu 22.04 LTS(64-bit</a:t>
            </a:r>
            <a:r>
              <a:rPr lang="en-US" altLang="ko-KR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)</a:t>
            </a:r>
          </a:p>
          <a:p>
            <a:pPr marL="266700" lvl="1" indent="0">
              <a:lnSpc>
                <a:spcPct val="100000"/>
              </a:lnSpc>
              <a:buNone/>
            </a:pPr>
            <a:r>
              <a:rPr lang="en-US" altLang="ko-KR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*</a:t>
            </a:r>
            <a:r>
              <a:rPr lang="ko-KR" altLang="en-US" sz="8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자동자</a:t>
            </a:r>
            <a:r>
              <a:rPr lang="ko-KR" altLang="en-US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ECU </a:t>
            </a:r>
            <a:r>
              <a:rPr lang="ko-KR" altLang="en-US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역시 메모리</a:t>
            </a:r>
            <a:r>
              <a:rPr lang="en-US" altLang="ko-KR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, CPU </a:t>
            </a:r>
            <a:r>
              <a:rPr lang="ko-KR" altLang="en-US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자원이 제한된 </a:t>
            </a:r>
            <a:r>
              <a:rPr lang="en-US" altLang="ko-KR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ARM </a:t>
            </a:r>
            <a:r>
              <a:rPr lang="ko-KR" altLang="en-US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기반 환경이므로</a:t>
            </a:r>
            <a:r>
              <a:rPr lang="en-US" altLang="ko-KR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실제 유사한 성능을 </a:t>
            </a:r>
            <a:r>
              <a:rPr lang="ko-KR" altLang="en-US" sz="8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보일것이라</a:t>
            </a:r>
            <a:r>
              <a:rPr lang="ko-KR" altLang="en-US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기대</a:t>
            </a:r>
            <a:r>
              <a:rPr lang="en-US" altLang="ko-KR" sz="8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*</a:t>
            </a:r>
            <a:endParaRPr lang="en-US" altLang="ko-KR" sz="7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266700" lvl="1" indent="0">
              <a:buNone/>
            </a:pPr>
            <a:endParaRPr lang="en-US" altLang="ko-KR" sz="14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lvl="3"/>
            <a:endParaRPr lang="en-US" altLang="ko-KR" b="1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lvl="3"/>
            <a:endParaRPr lang="en-US" altLang="ko-KR" b="1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lvl="3"/>
            <a:endParaRPr lang="en-US" altLang="ko-KR" b="1" dirty="0"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lvl="1"/>
            <a:endParaRPr lang="en-US" altLang="ko-KR" sz="8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C8D2A7DD-5E03-E7BF-1FA5-B1E9E1E2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280F46B-5F25-CE66-F98E-9862050D2DDA}"/>
              </a:ext>
            </a:extLst>
          </p:cNvPr>
          <p:cNvSpPr txBox="1">
            <a:spLocks/>
          </p:cNvSpPr>
          <p:nvPr/>
        </p:nvSpPr>
        <p:spPr>
          <a:xfrm>
            <a:off x="587887" y="935079"/>
            <a:ext cx="11279999" cy="1645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측정지표</a:t>
            </a:r>
            <a:endParaRPr lang="en-US" altLang="ko-KR" sz="17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- </a:t>
            </a:r>
            <a:r>
              <a:rPr lang="ko-KR" altLang="en-US" sz="13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해싱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시간</a:t>
            </a:r>
            <a:endParaRPr lang="en-US" altLang="ko-KR" sz="13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 - CPU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점유율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(</a:t>
            </a:r>
            <a:r>
              <a:rPr lang="en-US" altLang="ko-KR" sz="13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getrusage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 -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메모리 사용량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(</a:t>
            </a:r>
            <a:r>
              <a:rPr lang="en-US" altLang="ko-KR" sz="13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VmRSS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) </a:t>
            </a:r>
            <a:r>
              <a:rPr lang="en-US" altLang="ko-KR" sz="13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Peak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, AVG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측정</a:t>
            </a:r>
          </a:p>
          <a:p>
            <a:pPr lvl="1">
              <a:lnSpc>
                <a:spcPct val="100000"/>
              </a:lnSpc>
            </a:pPr>
            <a:endParaRPr lang="ko-KR" altLang="en-US" sz="8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78402D4-22EA-C4B7-0D34-637D2638E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E49E3C4-D671-4074-9D50-316D49681F06}"/>
              </a:ext>
            </a:extLst>
          </p:cNvPr>
          <p:cNvSpPr txBox="1">
            <a:spLocks/>
          </p:cNvSpPr>
          <p:nvPr/>
        </p:nvSpPr>
        <p:spPr>
          <a:xfrm>
            <a:off x="598904" y="4797549"/>
            <a:ext cx="11279999" cy="1645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200" b="1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ko-KR" altLang="en-US" sz="17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실험 방법</a:t>
            </a:r>
            <a:endParaRPr lang="en-US" altLang="ko-KR" sz="17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암호화된 파일을 각 해시 알고리즘으로 </a:t>
            </a:r>
            <a:r>
              <a:rPr lang="ko-KR" altLang="en-US" sz="13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해싱</a:t>
            </a:r>
            <a:r>
              <a:rPr lang="en-US" altLang="ko-KR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, 50</a:t>
            </a: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회 반복실험으로 </a:t>
            </a:r>
            <a:r>
              <a:rPr lang="ko-KR" altLang="en-US" sz="1300" b="1" dirty="0" err="1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해싱</a:t>
            </a:r>
            <a:r>
              <a:rPr lang="ko-KR" altLang="en-US" sz="13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시간</a:t>
            </a:r>
            <a:r>
              <a:rPr lang="en-US" altLang="ko-KR" sz="13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, CPU </a:t>
            </a:r>
            <a:r>
              <a:rPr lang="ko-KR" altLang="en-US" sz="13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점유율</a:t>
            </a:r>
            <a:r>
              <a:rPr lang="en-US" altLang="ko-KR" sz="13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, </a:t>
            </a:r>
            <a:r>
              <a:rPr lang="ko-KR" altLang="en-US" sz="13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메모리 사용량을 측정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D3AB80D-A151-9AD5-261D-832404C6F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334"/>
          <a:stretch/>
        </p:blipFill>
        <p:spPr>
          <a:xfrm>
            <a:off x="9059461" y="2489555"/>
            <a:ext cx="2483863" cy="26058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FE7920-AEA2-9038-470E-44C7656397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9512"/>
          <a:stretch/>
        </p:blipFill>
        <p:spPr>
          <a:xfrm>
            <a:off x="6018824" y="1463515"/>
            <a:ext cx="5447324" cy="540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664D7A-B9BA-D314-7DA5-4E1ABF508342}"/>
              </a:ext>
            </a:extLst>
          </p:cNvPr>
          <p:cNvSpPr txBox="1"/>
          <p:nvPr/>
        </p:nvSpPr>
        <p:spPr>
          <a:xfrm>
            <a:off x="5923786" y="2029324"/>
            <a:ext cx="64225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사이클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SIMD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활성화 여부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파일크기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클럭속도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해싱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cpu_time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cpu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점유율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메모리 사용량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(peak,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avg ..) 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84080A9-CBE7-20A3-3D02-60387F6FE576}"/>
              </a:ext>
            </a:extLst>
          </p:cNvPr>
          <p:cNvCxnSpPr>
            <a:cxnSpLocks/>
          </p:cNvCxnSpPr>
          <p:nvPr/>
        </p:nvCxnSpPr>
        <p:spPr>
          <a:xfrm flipH="1">
            <a:off x="6087872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8127287-7EBB-7E72-2747-EBA1E9082AC0}"/>
              </a:ext>
            </a:extLst>
          </p:cNvPr>
          <p:cNvSpPr txBox="1"/>
          <p:nvPr/>
        </p:nvSpPr>
        <p:spPr>
          <a:xfrm>
            <a:off x="5905500" y="1031490"/>
            <a:ext cx="186461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실험 데이터 지표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ADBFE9B-0CDE-A599-114B-F975E0FC6BC7}"/>
              </a:ext>
            </a:extLst>
          </p:cNvPr>
          <p:cNvCxnSpPr>
            <a:cxnSpLocks/>
          </p:cNvCxnSpPr>
          <p:nvPr/>
        </p:nvCxnSpPr>
        <p:spPr>
          <a:xfrm flipH="1">
            <a:off x="6692333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2ECDB38-CE7F-8A5A-F02B-8ECBC4FD269B}"/>
              </a:ext>
            </a:extLst>
          </p:cNvPr>
          <p:cNvCxnSpPr>
            <a:cxnSpLocks/>
          </p:cNvCxnSpPr>
          <p:nvPr/>
        </p:nvCxnSpPr>
        <p:spPr>
          <a:xfrm flipH="1">
            <a:off x="7416779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31E4298-9687-3D55-04D4-499F802962D6}"/>
              </a:ext>
            </a:extLst>
          </p:cNvPr>
          <p:cNvCxnSpPr>
            <a:cxnSpLocks/>
          </p:cNvCxnSpPr>
          <p:nvPr/>
        </p:nvCxnSpPr>
        <p:spPr>
          <a:xfrm flipH="1">
            <a:off x="7831307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19C3C9C-64A3-1771-0871-BA32D0EC1F69}"/>
              </a:ext>
            </a:extLst>
          </p:cNvPr>
          <p:cNvCxnSpPr>
            <a:cxnSpLocks/>
          </p:cNvCxnSpPr>
          <p:nvPr/>
        </p:nvCxnSpPr>
        <p:spPr>
          <a:xfrm flipH="1">
            <a:off x="8255877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E0144FA-4EB1-2C44-58D2-64A98C274246}"/>
              </a:ext>
            </a:extLst>
          </p:cNvPr>
          <p:cNvCxnSpPr>
            <a:cxnSpLocks/>
          </p:cNvCxnSpPr>
          <p:nvPr/>
        </p:nvCxnSpPr>
        <p:spPr>
          <a:xfrm flipH="1">
            <a:off x="8613585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06A99A7-F60B-0218-05EE-C8CC86B6EC2D}"/>
              </a:ext>
            </a:extLst>
          </p:cNvPr>
          <p:cNvCxnSpPr>
            <a:cxnSpLocks/>
          </p:cNvCxnSpPr>
          <p:nvPr/>
        </p:nvCxnSpPr>
        <p:spPr>
          <a:xfrm flipH="1">
            <a:off x="9153204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382D262-E1BD-AA2A-CF0C-1F53465A88BF}"/>
              </a:ext>
            </a:extLst>
          </p:cNvPr>
          <p:cNvCxnSpPr>
            <a:cxnSpLocks/>
          </p:cNvCxnSpPr>
          <p:nvPr/>
        </p:nvCxnSpPr>
        <p:spPr>
          <a:xfrm flipH="1">
            <a:off x="9576836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122D2C1-60A7-D62E-0470-DA534D3DB1B1}"/>
              </a:ext>
            </a:extLst>
          </p:cNvPr>
          <p:cNvCxnSpPr>
            <a:cxnSpLocks/>
          </p:cNvCxnSpPr>
          <p:nvPr/>
        </p:nvCxnSpPr>
        <p:spPr>
          <a:xfrm flipH="1">
            <a:off x="9994392" y="1445874"/>
            <a:ext cx="60766" cy="12981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79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A85DF-3D72-4184-1BF2-BABB9ADE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3CC83A-C077-5B76-886A-E24814491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실험 결과</a:t>
            </a:r>
            <a:r>
              <a:rPr lang="en-US" altLang="ko-KR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 – </a:t>
            </a:r>
            <a:r>
              <a:rPr lang="ko-KR" altLang="en-US" dirty="0" err="1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해싱</a:t>
            </a:r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 시간</a:t>
            </a: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8300AB22-0021-93DB-392D-1A55BEAF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81F52738-DF24-8B14-797F-D23D4D984E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4157665"/>
              </p:ext>
            </p:extLst>
          </p:nvPr>
        </p:nvGraphicFramePr>
        <p:xfrm>
          <a:off x="626564" y="2693650"/>
          <a:ext cx="1836389" cy="186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27DECA56-2D84-4E5C-DF8B-C0A5B8C306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345782"/>
              </p:ext>
            </p:extLst>
          </p:nvPr>
        </p:nvGraphicFramePr>
        <p:xfrm>
          <a:off x="7450817" y="2673330"/>
          <a:ext cx="1836389" cy="186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D93BC81-1CE1-583C-C549-8142F60FB4D1}"/>
              </a:ext>
            </a:extLst>
          </p:cNvPr>
          <p:cNvSpPr txBox="1"/>
          <p:nvPr/>
        </p:nvSpPr>
        <p:spPr>
          <a:xfrm>
            <a:off x="4029829" y="2155229"/>
            <a:ext cx="35101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파일 크기 별 </a:t>
            </a:r>
            <a:r>
              <a:rPr lang="ko-KR" altLang="en-US" sz="2000" dirty="0" err="1"/>
              <a:t>해싱</a:t>
            </a:r>
            <a:r>
              <a:rPr lang="ko-KR" altLang="en-US" sz="2000" dirty="0"/>
              <a:t> 시간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606DF21-86B5-483B-5395-A5DF1B334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graphicFrame>
        <p:nvGraphicFramePr>
          <p:cNvPr id="16" name="내용 개체 틀 6">
            <a:extLst>
              <a:ext uri="{FF2B5EF4-FFF2-40B4-BE49-F238E27FC236}">
                <a16:creationId xmlns:a16="http://schemas.microsoft.com/office/drawing/2014/main" id="{5336011B-E79A-8587-AF50-434159969F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0972578"/>
              </p:ext>
            </p:extLst>
          </p:nvPr>
        </p:nvGraphicFramePr>
        <p:xfrm>
          <a:off x="2901315" y="2673330"/>
          <a:ext cx="1836389" cy="186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내용 개체 틀 6">
            <a:extLst>
              <a:ext uri="{FF2B5EF4-FFF2-40B4-BE49-F238E27FC236}">
                <a16:creationId xmlns:a16="http://schemas.microsoft.com/office/drawing/2014/main" id="{337EB7AE-93DB-9630-8618-9B291BE5E1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4162802"/>
              </p:ext>
            </p:extLst>
          </p:nvPr>
        </p:nvGraphicFramePr>
        <p:xfrm>
          <a:off x="5176066" y="2683490"/>
          <a:ext cx="1836389" cy="186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6D49D6C9-4962-7083-D3D6-5F08B15C7E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0775588"/>
              </p:ext>
            </p:extLst>
          </p:nvPr>
        </p:nvGraphicFramePr>
        <p:xfrm>
          <a:off x="9725568" y="2672890"/>
          <a:ext cx="1836389" cy="186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25583AFF-05AF-7CC1-A810-4C61E4401884}"/>
              </a:ext>
            </a:extLst>
          </p:cNvPr>
          <p:cNvSpPr txBox="1"/>
          <p:nvPr/>
        </p:nvSpPr>
        <p:spPr>
          <a:xfrm>
            <a:off x="2637042" y="1060526"/>
            <a:ext cx="6746629" cy="82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700" dirty="0"/>
              <a:t>BLAKE3, </a:t>
            </a:r>
            <a:r>
              <a:rPr lang="ko-KR" altLang="en-US" sz="1700" dirty="0"/>
              <a:t>파일 크기와 무관한 일관된 </a:t>
            </a:r>
            <a:r>
              <a:rPr lang="ko-KR" altLang="en-US" sz="1700" b="1" dirty="0">
                <a:solidFill>
                  <a:srgbClr val="0000FF"/>
                </a:solidFill>
              </a:rPr>
              <a:t>빠른 처리 시간</a:t>
            </a:r>
            <a:endParaRPr lang="en-US" altLang="ko-KR" sz="1700" b="1" dirty="0">
              <a:solidFill>
                <a:srgbClr val="0000F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1000MB 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기준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, SHA-256 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대비 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60% 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  <a:cs typeface="함초롬돋움" panose="020B0604000101010101" pitchFamily="50" charset="-127"/>
              </a:rPr>
              <a:t>처리 시간 단축</a:t>
            </a:r>
            <a:endParaRPr lang="ko-KR" altLang="en-US" sz="1700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D7B11E6-CA54-13BC-E417-8245A83D5C4B}"/>
              </a:ext>
            </a:extLst>
          </p:cNvPr>
          <p:cNvCxnSpPr>
            <a:cxnSpLocks/>
          </p:cNvCxnSpPr>
          <p:nvPr/>
        </p:nvCxnSpPr>
        <p:spPr>
          <a:xfrm>
            <a:off x="11300110" y="3131430"/>
            <a:ext cx="0" cy="625033"/>
          </a:xfrm>
          <a:prstGeom prst="straightConnector1">
            <a:avLst/>
          </a:prstGeom>
          <a:ln w="190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DEC432C-B5BF-7BE1-2A79-3EF0180EB0B6}"/>
              </a:ext>
            </a:extLst>
          </p:cNvPr>
          <p:cNvSpPr txBox="1"/>
          <p:nvPr/>
        </p:nvSpPr>
        <p:spPr>
          <a:xfrm>
            <a:off x="11312678" y="3312902"/>
            <a:ext cx="10725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srgbClr val="0000FF"/>
                </a:solidFill>
              </a:rPr>
              <a:t>60% </a:t>
            </a:r>
            <a:r>
              <a:rPr lang="ko-KR" altLang="en-US" sz="1300" b="1" dirty="0">
                <a:solidFill>
                  <a:srgbClr val="0000FF"/>
                </a:solidFill>
              </a:rPr>
              <a:t>단축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26B4FEB-164E-22C6-7300-8F3FAB5CD3BE}"/>
              </a:ext>
            </a:extLst>
          </p:cNvPr>
          <p:cNvGrpSpPr/>
          <p:nvPr/>
        </p:nvGrpSpPr>
        <p:grpSpPr>
          <a:xfrm>
            <a:off x="3195918" y="4706779"/>
            <a:ext cx="6306533" cy="254643"/>
            <a:chOff x="2956921" y="3636528"/>
            <a:chExt cx="6306533" cy="25464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4D89461-A430-790A-F519-7766945E9CE7}"/>
                </a:ext>
              </a:extLst>
            </p:cNvPr>
            <p:cNvGrpSpPr/>
            <p:nvPr/>
          </p:nvGrpSpPr>
          <p:grpSpPr>
            <a:xfrm>
              <a:off x="2956921" y="3636528"/>
              <a:ext cx="1090573" cy="254643"/>
              <a:chOff x="2148408" y="5486400"/>
              <a:chExt cx="1090573" cy="254643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21ECEE70-BB06-CD96-B628-E528B956BC44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BAC4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28727FD9-40DC-41CB-F341-1491C8DC024F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kern="1200" dirty="0"/>
                  <a:t>SHA-256</a:t>
                </a:r>
                <a:endParaRPr lang="ko-KR" altLang="en-US" sz="1100" kern="1200" dirty="0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27008AA-1A8D-AB95-191F-616B4504B5AA}"/>
                </a:ext>
              </a:extLst>
            </p:cNvPr>
            <p:cNvGrpSpPr/>
            <p:nvPr/>
          </p:nvGrpSpPr>
          <p:grpSpPr>
            <a:xfrm>
              <a:off x="4248024" y="3636528"/>
              <a:ext cx="1090573" cy="254643"/>
              <a:chOff x="2148408" y="5486400"/>
              <a:chExt cx="1090573" cy="254643"/>
            </a:xfrm>
            <a:solidFill>
              <a:schemeClr val="bg1"/>
            </a:solidFill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891D9D0F-1D7E-91A7-5B66-B4352839A089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8FA2D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14" name="TextBox 1">
                <a:extLst>
                  <a:ext uri="{FF2B5EF4-FFF2-40B4-BE49-F238E27FC236}">
                    <a16:creationId xmlns:a16="http://schemas.microsoft.com/office/drawing/2014/main" id="{0B1E8995-E2F2-70C0-85E5-99BBECD703C9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  <a:grpFill/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kern="1200" dirty="0"/>
                  <a:t>SHA3-256</a:t>
                </a:r>
                <a:endParaRPr lang="ko-KR" altLang="en-US" sz="1100" kern="1200" dirty="0"/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5B06D27-02F9-FD59-D800-EEB89532762C}"/>
                </a:ext>
              </a:extLst>
            </p:cNvPr>
            <p:cNvGrpSpPr/>
            <p:nvPr/>
          </p:nvGrpSpPr>
          <p:grpSpPr>
            <a:xfrm>
              <a:off x="5595188" y="3636528"/>
              <a:ext cx="1090573" cy="254643"/>
              <a:chOff x="2148408" y="5486400"/>
              <a:chExt cx="1090573" cy="254643"/>
            </a:xfrm>
            <a:solidFill>
              <a:schemeClr val="bg1"/>
            </a:solidFill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0E248177-2540-B781-A46B-ADB823FCE537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4472C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19" name="TextBox 1">
                <a:extLst>
                  <a:ext uri="{FF2B5EF4-FFF2-40B4-BE49-F238E27FC236}">
                    <a16:creationId xmlns:a16="http://schemas.microsoft.com/office/drawing/2014/main" id="{40BF5CDF-A846-FA8E-F2E4-18CD2759B0C3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  <a:grpFill/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100" dirty="0"/>
                  <a:t>BLAKE2S</a:t>
                </a:r>
                <a:endParaRPr lang="ko-KR" altLang="en-US" sz="1100" kern="1200" dirty="0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4CC3A2E-6CF4-AEFA-6986-ABFCE42170E4}"/>
                </a:ext>
              </a:extLst>
            </p:cNvPr>
            <p:cNvGrpSpPr/>
            <p:nvPr/>
          </p:nvGrpSpPr>
          <p:grpSpPr>
            <a:xfrm>
              <a:off x="6828780" y="3636528"/>
              <a:ext cx="1090573" cy="254643"/>
              <a:chOff x="2148408" y="5486400"/>
              <a:chExt cx="1090573" cy="254643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18ED7D3-7041-B66C-81E4-7CD2C6FE64C5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3B64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5" name="TextBox 1">
                <a:extLst>
                  <a:ext uri="{FF2B5EF4-FFF2-40B4-BE49-F238E27FC236}">
                    <a16:creationId xmlns:a16="http://schemas.microsoft.com/office/drawing/2014/main" id="{E56E3CFC-B6B2-3566-5351-3FCB158BAEBC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100" dirty="0"/>
                  <a:t>BLAKE2</a:t>
                </a:r>
                <a:r>
                  <a:rPr lang="en-US" altLang="ko-KR" dirty="0"/>
                  <a:t>B</a:t>
                </a:r>
                <a:endParaRPr lang="ko-KR" altLang="en-US" sz="1100" kern="1200" dirty="0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36B8DD5-7041-408B-3A3E-2EB59B6DD0AC}"/>
                </a:ext>
              </a:extLst>
            </p:cNvPr>
            <p:cNvGrpSpPr/>
            <p:nvPr/>
          </p:nvGrpSpPr>
          <p:grpSpPr>
            <a:xfrm>
              <a:off x="8172881" y="3636528"/>
              <a:ext cx="1090573" cy="254643"/>
              <a:chOff x="2148408" y="5486400"/>
              <a:chExt cx="1090573" cy="254643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5DEB9388-BA07-20C5-7A5E-32DCE11A1580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30" name="TextBox 1">
                <a:extLst>
                  <a:ext uri="{FF2B5EF4-FFF2-40B4-BE49-F238E27FC236}">
                    <a16:creationId xmlns:a16="http://schemas.microsoft.com/office/drawing/2014/main" id="{A981759D-B6A0-AB8E-F647-BC297DA95EF6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100" dirty="0"/>
                  <a:t>BLAKE3</a:t>
                </a:r>
                <a:endParaRPr lang="ko-KR" altLang="en-US" sz="1100" kern="1200" dirty="0"/>
              </a:p>
            </p:txBody>
          </p:sp>
        </p:grp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3E87FCC-C05D-EE5D-2296-722F411389CD}"/>
              </a:ext>
            </a:extLst>
          </p:cNvPr>
          <p:cNvCxnSpPr>
            <a:cxnSpLocks/>
          </p:cNvCxnSpPr>
          <p:nvPr/>
        </p:nvCxnSpPr>
        <p:spPr>
          <a:xfrm flipV="1">
            <a:off x="10127847" y="2557142"/>
            <a:ext cx="0" cy="1604434"/>
          </a:xfrm>
          <a:prstGeom prst="straightConnector1">
            <a:avLst/>
          </a:prstGeom>
          <a:ln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BCC5153-B376-A753-AEB6-467CA1738053}"/>
              </a:ext>
            </a:extLst>
          </p:cNvPr>
          <p:cNvSpPr txBox="1"/>
          <p:nvPr/>
        </p:nvSpPr>
        <p:spPr>
          <a:xfrm>
            <a:off x="9026434" y="2449755"/>
            <a:ext cx="123270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solidFill>
                  <a:schemeClr val="bg1">
                    <a:lumMod val="50000"/>
                  </a:schemeClr>
                </a:solidFill>
              </a:rPr>
              <a:t>처리시간</a:t>
            </a:r>
            <a:r>
              <a:rPr lang="en-US" altLang="ko-KR" sz="13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300" dirty="0">
                <a:solidFill>
                  <a:schemeClr val="bg1">
                    <a:lumMod val="50000"/>
                  </a:schemeClr>
                </a:solidFill>
              </a:rPr>
              <a:t>초</a:t>
            </a:r>
            <a:r>
              <a:rPr lang="en-US" altLang="ko-KR" sz="13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85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AB8C4-557C-24AF-E3AD-96870F04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7395B-1BC7-7E0D-A16A-2031C46A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실험 결과</a:t>
            </a:r>
            <a:r>
              <a:rPr lang="en-US" altLang="ko-KR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 – </a:t>
            </a:r>
            <a:r>
              <a:rPr lang="ko-KR" altLang="en-US" dirty="0" err="1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해싱</a:t>
            </a:r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 시간</a:t>
            </a:r>
            <a:r>
              <a:rPr lang="en-US" altLang="ko-KR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(</a:t>
            </a:r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벡터연산</a:t>
            </a:r>
            <a:r>
              <a:rPr lang="en-US" altLang="ko-KR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) </a:t>
            </a:r>
            <a:endParaRPr lang="ko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DBA8FEFB-DF7F-2FC2-D9DF-1267850D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1F99"/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u="none" strike="noStrike" kern="1200" cap="none" spc="0" normalizeH="0" baseline="0" noProof="0" dirty="0">
              <a:ln>
                <a:noFill/>
              </a:ln>
              <a:solidFill>
                <a:srgbClr val="001F99"/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6B5ED68-9A6D-08EE-DFB0-3FC134EFE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562" y="1753647"/>
            <a:ext cx="11280002" cy="5173319"/>
          </a:xfrm>
        </p:spPr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DF655A-3B98-643E-2BF7-E70702823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684574-53B5-2F69-DD61-28328ADE85A8}"/>
              </a:ext>
            </a:extLst>
          </p:cNvPr>
          <p:cNvSpPr txBox="1"/>
          <p:nvPr/>
        </p:nvSpPr>
        <p:spPr>
          <a:xfrm>
            <a:off x="2916684" y="989476"/>
            <a:ext cx="8365829" cy="434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BLAKE3 </a:t>
            </a:r>
            <a:r>
              <a:rPr lang="en-US" altLang="ko-KR" sz="17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ARM </a:t>
            </a:r>
            <a:r>
              <a:rPr lang="ko-KR" altLang="en-US" sz="17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 </a:t>
            </a:r>
            <a:r>
              <a:rPr lang="en-US" altLang="ko-KR" sz="17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SIMD </a:t>
            </a:r>
            <a:r>
              <a:rPr lang="ko-KR" altLang="en-US" sz="17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연산에 최적화 설계 </a:t>
            </a:r>
            <a:r>
              <a:rPr lang="en-US" altLang="ko-KR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처리 시간 감소</a:t>
            </a:r>
            <a:endParaRPr lang="en-US" altLang="ko-KR" sz="17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1682887B-7CFD-4F72-A5BD-B870EE0E6B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108000"/>
              </p:ext>
            </p:extLst>
          </p:nvPr>
        </p:nvGraphicFramePr>
        <p:xfrm>
          <a:off x="1369140" y="1635520"/>
          <a:ext cx="8630495" cy="3785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AE04FA-7FBD-7251-516A-E92FC6360BC2}"/>
              </a:ext>
            </a:extLst>
          </p:cNvPr>
          <p:cNvSpPr txBox="1"/>
          <p:nvPr/>
        </p:nvSpPr>
        <p:spPr>
          <a:xfrm>
            <a:off x="8619250" y="2610724"/>
            <a:ext cx="1271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35% </a:t>
            </a:r>
            <a:r>
              <a:rPr lang="ko-KR" altLang="en-US" b="1" dirty="0">
                <a:solidFill>
                  <a:srgbClr val="0000FF"/>
                </a:solidFill>
              </a:rPr>
              <a:t>감소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7AD3B54-9104-851C-9C72-2EE0D0FF2187}"/>
              </a:ext>
            </a:extLst>
          </p:cNvPr>
          <p:cNvCxnSpPr>
            <a:cxnSpLocks/>
            <a:endCxn id="12" idx="3"/>
          </p:cNvCxnSpPr>
          <p:nvPr/>
        </p:nvCxnSpPr>
        <p:spPr>
          <a:xfrm flipV="1">
            <a:off x="1912733" y="2097785"/>
            <a:ext cx="0" cy="3323293"/>
          </a:xfrm>
          <a:prstGeom prst="straightConnector1">
            <a:avLst/>
          </a:prstGeom>
          <a:ln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C8C2BD-0F75-8412-9286-AF3DF5FDEE40}"/>
              </a:ext>
            </a:extLst>
          </p:cNvPr>
          <p:cNvSpPr txBox="1"/>
          <p:nvPr/>
        </p:nvSpPr>
        <p:spPr>
          <a:xfrm>
            <a:off x="543661" y="1928508"/>
            <a:ext cx="1369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처리시간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초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B99A457-D337-B3F3-F3D0-3667F41DC38D}"/>
              </a:ext>
            </a:extLst>
          </p:cNvPr>
          <p:cNvGrpSpPr/>
          <p:nvPr/>
        </p:nvGrpSpPr>
        <p:grpSpPr>
          <a:xfrm>
            <a:off x="10427137" y="2688679"/>
            <a:ext cx="1090573" cy="254643"/>
            <a:chOff x="2148408" y="5486400"/>
            <a:chExt cx="1090573" cy="254643"/>
          </a:xfrm>
          <a:solidFill>
            <a:schemeClr val="bg1"/>
          </a:solidFill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F298B9F-2076-BCD7-A893-D285BF271D62}"/>
                </a:ext>
              </a:extLst>
            </p:cNvPr>
            <p:cNvSpPr/>
            <p:nvPr/>
          </p:nvSpPr>
          <p:spPr>
            <a:xfrm>
              <a:off x="2148408" y="5535829"/>
              <a:ext cx="144000" cy="144000"/>
            </a:xfrm>
            <a:prstGeom prst="rect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">
              <a:extLst>
                <a:ext uri="{FF2B5EF4-FFF2-40B4-BE49-F238E27FC236}">
                  <a16:creationId xmlns:a16="http://schemas.microsoft.com/office/drawing/2014/main" id="{CC48EBF1-B309-CF3D-7284-BF1AA8C0E6E0}"/>
                </a:ext>
              </a:extLst>
            </p:cNvPr>
            <p:cNvSpPr txBox="1"/>
            <p:nvPr/>
          </p:nvSpPr>
          <p:spPr>
            <a:xfrm>
              <a:off x="2324580" y="5486400"/>
              <a:ext cx="914401" cy="254643"/>
            </a:xfrm>
            <a:prstGeom prst="rect">
              <a:avLst/>
            </a:prstGeom>
            <a:grpFill/>
          </p:spPr>
          <p:txBody>
            <a:bodyPr wrap="squar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SISD</a:t>
              </a:r>
              <a:endParaRPr lang="ko-KR" altLang="en-US" sz="1100" kern="1200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A0C7927-64DA-5941-254B-47CC5164B3CA}"/>
              </a:ext>
            </a:extLst>
          </p:cNvPr>
          <p:cNvGrpSpPr/>
          <p:nvPr/>
        </p:nvGrpSpPr>
        <p:grpSpPr>
          <a:xfrm>
            <a:off x="10427137" y="3034821"/>
            <a:ext cx="1090573" cy="254643"/>
            <a:chOff x="2148408" y="5486400"/>
            <a:chExt cx="1090573" cy="254643"/>
          </a:xfrm>
          <a:solidFill>
            <a:schemeClr val="bg1"/>
          </a:solidFill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3159EE6-2F60-40BF-6426-50B7AD440946}"/>
                </a:ext>
              </a:extLst>
            </p:cNvPr>
            <p:cNvSpPr/>
            <p:nvPr/>
          </p:nvSpPr>
          <p:spPr>
            <a:xfrm>
              <a:off x="2148408" y="5535829"/>
              <a:ext cx="144000" cy="144000"/>
            </a:xfrm>
            <a:prstGeom prst="rect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TextBox 1">
              <a:extLst>
                <a:ext uri="{FF2B5EF4-FFF2-40B4-BE49-F238E27FC236}">
                  <a16:creationId xmlns:a16="http://schemas.microsoft.com/office/drawing/2014/main" id="{E1D35E00-0BE9-2C7E-3D96-B7B2BF12CC44}"/>
                </a:ext>
              </a:extLst>
            </p:cNvPr>
            <p:cNvSpPr txBox="1"/>
            <p:nvPr/>
          </p:nvSpPr>
          <p:spPr>
            <a:xfrm>
              <a:off x="2324580" y="5486400"/>
              <a:ext cx="914401" cy="254643"/>
            </a:xfrm>
            <a:prstGeom prst="rect">
              <a:avLst/>
            </a:prstGeom>
            <a:grpFill/>
          </p:spPr>
          <p:txBody>
            <a:bodyPr wrap="square" rtlCol="0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/>
                <a:t>SIMD</a:t>
              </a:r>
              <a:endParaRPr lang="ko-KR" altLang="en-US" sz="1100" kern="1200" dirty="0"/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161951-DDA9-B356-3664-D2338281911B}"/>
              </a:ext>
            </a:extLst>
          </p:cNvPr>
          <p:cNvSpPr/>
          <p:nvPr/>
        </p:nvSpPr>
        <p:spPr>
          <a:xfrm>
            <a:off x="7635258" y="2111358"/>
            <a:ext cx="2364377" cy="3337976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래픽 21" descr="뒤로 윤곽선">
            <a:extLst>
              <a:ext uri="{FF2B5EF4-FFF2-40B4-BE49-F238E27FC236}">
                <a16:creationId xmlns:a16="http://schemas.microsoft.com/office/drawing/2014/main" id="{E94C6FFF-86F9-4478-1142-128608BD3E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382205">
            <a:off x="8445679" y="2768936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5B86C8C-383F-0854-1CE5-468A15707A28}"/>
              </a:ext>
            </a:extLst>
          </p:cNvPr>
          <p:cNvSpPr txBox="1"/>
          <p:nvPr/>
        </p:nvSpPr>
        <p:spPr>
          <a:xfrm>
            <a:off x="2071396" y="5520543"/>
            <a:ext cx="8192277" cy="653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BLAKE2S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설계 시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SISD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연산에 최적화된 구조로 설계되어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ARM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환경에서의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SIMD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연산 처리 효율 감소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BLAKE2B SISD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연산에 최적화된 구조로 설계되어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BLAKE3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보다 빠른 처리 속도를 보임</a:t>
            </a:r>
          </a:p>
        </p:txBody>
      </p:sp>
    </p:spTree>
    <p:extLst>
      <p:ext uri="{BB962C8B-B14F-4D97-AF65-F5344CB8AC3E}">
        <p14:creationId xmlns:p14="http://schemas.microsoft.com/office/powerpoint/2010/main" val="89048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84CC-3974-23C8-6767-09C9FDBD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22C6C-A9CA-4532-DBBC-69B30BDD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실험 결과</a:t>
            </a:r>
            <a:r>
              <a:rPr lang="en-US" altLang="ko-KR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 – </a:t>
            </a:r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메모리 사용량</a:t>
            </a:r>
            <a:r>
              <a:rPr lang="en-US" altLang="ko-KR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 </a:t>
            </a:r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및</a:t>
            </a:r>
            <a:r>
              <a:rPr lang="en-US" altLang="ko-KR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 CPU </a:t>
            </a:r>
            <a:r>
              <a:rPr lang="ko-KR" altLang="en-US" dirty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t>점유율</a:t>
            </a:r>
          </a:p>
        </p:txBody>
      </p:sp>
      <p:sp>
        <p:nvSpPr>
          <p:cNvPr id="62" name="슬라이드 번호 개체 틀 61">
            <a:extLst>
              <a:ext uri="{FF2B5EF4-FFF2-40B4-BE49-F238E27FC236}">
                <a16:creationId xmlns:a16="http://schemas.microsoft.com/office/drawing/2014/main" id="{5A26E13E-84C5-E06A-12A2-D4A7370B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1610" y="6356350"/>
            <a:ext cx="1014387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15EC1-5731-40A4-B8D3-4F80B272D391}" type="slidenum">
              <a:rPr kumimoji="0" lang="ko-KR" alt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A82B6C34-33BB-086C-6225-48C28DAC6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437805"/>
              </p:ext>
            </p:extLst>
          </p:nvPr>
        </p:nvGraphicFramePr>
        <p:xfrm>
          <a:off x="1285645" y="1429658"/>
          <a:ext cx="4044881" cy="3061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3012D481-D343-FB1A-3040-479A020F6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graphicFrame>
        <p:nvGraphicFramePr>
          <p:cNvPr id="4" name="내용 개체 틀 10">
            <a:extLst>
              <a:ext uri="{FF2B5EF4-FFF2-40B4-BE49-F238E27FC236}">
                <a16:creationId xmlns:a16="http://schemas.microsoft.com/office/drawing/2014/main" id="{ACE69D50-7A4E-A273-A090-BD74E416B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205042"/>
              </p:ext>
            </p:extLst>
          </p:nvPr>
        </p:nvGraphicFramePr>
        <p:xfrm>
          <a:off x="6622068" y="1406404"/>
          <a:ext cx="4046400" cy="30612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F94969-C8E7-D6EC-F079-1D9BF5336BAC}"/>
              </a:ext>
            </a:extLst>
          </p:cNvPr>
          <p:cNvSpPr txBox="1"/>
          <p:nvPr/>
        </p:nvSpPr>
        <p:spPr>
          <a:xfrm>
            <a:off x="3915255" y="5038438"/>
            <a:ext cx="6746629" cy="653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latin typeface="+mn-ea"/>
              </a:rPr>
              <a:t>BLAKE3, SHA-256 </a:t>
            </a:r>
            <a:r>
              <a:rPr lang="ko-KR" altLang="en-US" sz="1300" dirty="0">
                <a:latin typeface="+mn-ea"/>
              </a:rPr>
              <a:t>대비 </a:t>
            </a:r>
            <a:r>
              <a:rPr lang="en-US" altLang="ko-KR" sz="1300" b="1" dirty="0">
                <a:solidFill>
                  <a:srgbClr val="0000FF"/>
                </a:solidFill>
                <a:latin typeface="+mn-ea"/>
              </a:rPr>
              <a:t>68% </a:t>
            </a:r>
            <a:r>
              <a:rPr lang="ko-KR" altLang="en-US" sz="1300" b="1" dirty="0">
                <a:solidFill>
                  <a:srgbClr val="0000FF"/>
                </a:solidFill>
                <a:latin typeface="+mn-ea"/>
              </a:rPr>
              <a:t>메모리 사용량 감소</a:t>
            </a:r>
            <a:br>
              <a:rPr lang="en-US" altLang="ko-KR" sz="1300" dirty="0">
                <a:latin typeface="+mn-ea"/>
                <a:cs typeface="함초롬돋움" panose="020B0604000101010101" pitchFamily="50" charset="-127"/>
              </a:rPr>
            </a:br>
            <a:r>
              <a:rPr lang="en-US" altLang="ko-KR" sz="1300" dirty="0">
                <a:latin typeface="+mn-ea"/>
                <a:cs typeface="함초롬돋움" panose="020B0604000101010101" pitchFamily="50" charset="-127"/>
              </a:rPr>
              <a:t>BLAKE3, SHA-256 </a:t>
            </a:r>
            <a:r>
              <a:rPr lang="ko-KR" altLang="en-US" sz="1300" dirty="0">
                <a:latin typeface="+mn-ea"/>
                <a:cs typeface="함초롬돋움" panose="020B0604000101010101" pitchFamily="50" charset="-127"/>
              </a:rPr>
              <a:t>대비 약 </a:t>
            </a:r>
            <a:r>
              <a:rPr lang="en-US" altLang="ko-KR" sz="1300" b="1" dirty="0">
                <a:solidFill>
                  <a:srgbClr val="0000FF"/>
                </a:solidFill>
                <a:latin typeface="+mn-ea"/>
                <a:cs typeface="함초롬돋움" panose="020B0604000101010101" pitchFamily="50" charset="-127"/>
              </a:rPr>
              <a:t>13% </a:t>
            </a:r>
            <a:r>
              <a:rPr lang="ko-KR" altLang="en-US" sz="1300" b="1" dirty="0">
                <a:solidFill>
                  <a:srgbClr val="0000FF"/>
                </a:solidFill>
                <a:latin typeface="+mn-ea"/>
                <a:cs typeface="함초롬돋움" panose="020B0604000101010101" pitchFamily="50" charset="-127"/>
              </a:rPr>
              <a:t>낮은 </a:t>
            </a:r>
            <a:r>
              <a:rPr lang="en-US" altLang="ko-KR" sz="1300" b="1" dirty="0">
                <a:solidFill>
                  <a:srgbClr val="0000FF"/>
                </a:solidFill>
                <a:latin typeface="+mn-ea"/>
                <a:cs typeface="함초롬돋움" panose="020B0604000101010101" pitchFamily="50" charset="-127"/>
              </a:rPr>
              <a:t>CPU </a:t>
            </a:r>
            <a:r>
              <a:rPr lang="ko-KR" altLang="en-US" sz="1300" b="1" dirty="0">
                <a:solidFill>
                  <a:srgbClr val="0000FF"/>
                </a:solidFill>
                <a:latin typeface="+mn-ea"/>
                <a:cs typeface="함초롬돋움" panose="020B0604000101010101" pitchFamily="50" charset="-127"/>
              </a:rPr>
              <a:t>점유율</a:t>
            </a:r>
            <a:endParaRPr lang="en-US" altLang="ko-KR" sz="1300" b="1" dirty="0">
              <a:solidFill>
                <a:srgbClr val="0000FF"/>
              </a:solidFill>
              <a:latin typeface="+mn-ea"/>
              <a:cs typeface="함초롬돋움" panose="020B0604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3F8294B-C14E-1413-8D31-74A47B17C3D2}"/>
              </a:ext>
            </a:extLst>
          </p:cNvPr>
          <p:cNvGrpSpPr/>
          <p:nvPr/>
        </p:nvGrpSpPr>
        <p:grpSpPr>
          <a:xfrm>
            <a:off x="3031130" y="4579168"/>
            <a:ext cx="6306533" cy="254643"/>
            <a:chOff x="2356028" y="3636528"/>
            <a:chExt cx="6306533" cy="25464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F150CEB-6A99-90B5-BF82-5041DD4C1C24}"/>
                </a:ext>
              </a:extLst>
            </p:cNvPr>
            <p:cNvGrpSpPr/>
            <p:nvPr/>
          </p:nvGrpSpPr>
          <p:grpSpPr>
            <a:xfrm>
              <a:off x="2356028" y="3636528"/>
              <a:ext cx="1090573" cy="254643"/>
              <a:chOff x="2148408" y="5486400"/>
              <a:chExt cx="1090573" cy="254643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3A749910-77C1-1E84-BCE2-8838A88674DC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BAC4E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TextBox 1">
                <a:extLst>
                  <a:ext uri="{FF2B5EF4-FFF2-40B4-BE49-F238E27FC236}">
                    <a16:creationId xmlns:a16="http://schemas.microsoft.com/office/drawing/2014/main" id="{58C5DC28-A623-9D47-A211-7B79E434419E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kern="1200" dirty="0"/>
                  <a:t>SHA-256</a:t>
                </a:r>
                <a:endParaRPr lang="ko-KR" altLang="en-US" sz="1100" kern="1200" dirty="0"/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8D8A9A0C-E4D7-81B6-DBB5-ACDB293B0A72}"/>
                </a:ext>
              </a:extLst>
            </p:cNvPr>
            <p:cNvGrpSpPr/>
            <p:nvPr/>
          </p:nvGrpSpPr>
          <p:grpSpPr>
            <a:xfrm>
              <a:off x="3647131" y="3636528"/>
              <a:ext cx="1090573" cy="254643"/>
              <a:chOff x="2148408" y="5486400"/>
              <a:chExt cx="1090573" cy="254643"/>
            </a:xfrm>
            <a:solidFill>
              <a:schemeClr val="bg1"/>
            </a:solidFill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5B850C3-3216-0902-E28F-2076F960D8E6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8FA2D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2" name="TextBox 1">
                <a:extLst>
                  <a:ext uri="{FF2B5EF4-FFF2-40B4-BE49-F238E27FC236}">
                    <a16:creationId xmlns:a16="http://schemas.microsoft.com/office/drawing/2014/main" id="{A0DF6164-06C0-1E7D-EB3E-FDFB31AD8A8D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  <a:grpFill/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kern="1200" dirty="0"/>
                  <a:t>SHA3-256</a:t>
                </a:r>
                <a:endParaRPr lang="ko-KR" altLang="en-US" sz="1100" kern="1200" dirty="0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1536EF4-174C-51E9-205D-6028B5907862}"/>
                </a:ext>
              </a:extLst>
            </p:cNvPr>
            <p:cNvGrpSpPr/>
            <p:nvPr/>
          </p:nvGrpSpPr>
          <p:grpSpPr>
            <a:xfrm>
              <a:off x="4994295" y="3636528"/>
              <a:ext cx="1090573" cy="254643"/>
              <a:chOff x="2148408" y="5486400"/>
              <a:chExt cx="1090573" cy="254643"/>
            </a:xfrm>
            <a:solidFill>
              <a:schemeClr val="bg1"/>
            </a:solidFill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76F50C3-71B8-DDDA-AA28-4D12D53BF40E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4472C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" name="TextBox 1">
                <a:extLst>
                  <a:ext uri="{FF2B5EF4-FFF2-40B4-BE49-F238E27FC236}">
                    <a16:creationId xmlns:a16="http://schemas.microsoft.com/office/drawing/2014/main" id="{BE636562-E0CE-EFD0-9254-37544566348B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  <a:grpFill/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100" dirty="0"/>
                  <a:t>BLAKE2S</a:t>
                </a:r>
                <a:endParaRPr lang="ko-KR" altLang="en-US" sz="1100" kern="1200" dirty="0"/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B36E79A-8103-E14E-EFE3-DF5BF8A2E7B4}"/>
                </a:ext>
              </a:extLst>
            </p:cNvPr>
            <p:cNvGrpSpPr/>
            <p:nvPr/>
          </p:nvGrpSpPr>
          <p:grpSpPr>
            <a:xfrm>
              <a:off x="6227887" y="3636528"/>
              <a:ext cx="1090573" cy="254643"/>
              <a:chOff x="2148408" y="5486400"/>
              <a:chExt cx="1090573" cy="254643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FACCB57B-A746-68F6-5987-D3BE4736636A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3B64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" name="TextBox 1">
                <a:extLst>
                  <a:ext uri="{FF2B5EF4-FFF2-40B4-BE49-F238E27FC236}">
                    <a16:creationId xmlns:a16="http://schemas.microsoft.com/office/drawing/2014/main" id="{9EDCA7FF-1823-6898-3C60-D31DE7F0180D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100" dirty="0"/>
                  <a:t>BLAKE2</a:t>
                </a:r>
                <a:r>
                  <a:rPr lang="en-US" altLang="ko-KR" dirty="0"/>
                  <a:t>B</a:t>
                </a:r>
                <a:endParaRPr lang="ko-KR" altLang="en-US" sz="1100" kern="1200" dirty="0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8CB7DB8-739F-30E3-5B7E-7B1AA167E713}"/>
                </a:ext>
              </a:extLst>
            </p:cNvPr>
            <p:cNvGrpSpPr/>
            <p:nvPr/>
          </p:nvGrpSpPr>
          <p:grpSpPr>
            <a:xfrm>
              <a:off x="7571988" y="3636528"/>
              <a:ext cx="1090573" cy="254643"/>
              <a:chOff x="2148408" y="5486400"/>
              <a:chExt cx="1090573" cy="254643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249C304-99EC-34B5-A5FD-CCCD09B0CA73}"/>
                  </a:ext>
                </a:extLst>
              </p:cNvPr>
              <p:cNvSpPr/>
              <p:nvPr/>
            </p:nvSpPr>
            <p:spPr>
              <a:xfrm>
                <a:off x="2148408" y="5535829"/>
                <a:ext cx="144000" cy="144000"/>
              </a:xfrm>
              <a:prstGeom prst="rect">
                <a:avLst/>
              </a:prstGeom>
              <a:solidFill>
                <a:srgbClr val="ED7D3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TextBox 1">
                <a:extLst>
                  <a:ext uri="{FF2B5EF4-FFF2-40B4-BE49-F238E27FC236}">
                    <a16:creationId xmlns:a16="http://schemas.microsoft.com/office/drawing/2014/main" id="{34E86AE8-B002-F351-226C-BF1495B17756}"/>
                  </a:ext>
                </a:extLst>
              </p:cNvPr>
              <p:cNvSpPr txBox="1"/>
              <p:nvPr/>
            </p:nvSpPr>
            <p:spPr>
              <a:xfrm>
                <a:off x="2324580" y="5486400"/>
                <a:ext cx="914401" cy="254643"/>
              </a:xfrm>
              <a:prstGeom prst="rect">
                <a:avLst/>
              </a:prstGeom>
            </p:spPr>
            <p:txBody>
              <a:bodyPr wrap="square" rtlCol="0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1100" dirty="0"/>
                  <a:t>BLAKE3</a:t>
                </a:r>
                <a:endParaRPr lang="ko-KR" altLang="en-US" sz="1100" kern="1200" dirty="0"/>
              </a:p>
            </p:txBody>
          </p:sp>
        </p:grp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72F7BC2-CF1A-08FD-E98E-0E75FC1193D5}"/>
              </a:ext>
            </a:extLst>
          </p:cNvPr>
          <p:cNvCxnSpPr>
            <a:cxnSpLocks/>
          </p:cNvCxnSpPr>
          <p:nvPr/>
        </p:nvCxnSpPr>
        <p:spPr>
          <a:xfrm flipV="1">
            <a:off x="1886672" y="1866713"/>
            <a:ext cx="0" cy="2384385"/>
          </a:xfrm>
          <a:prstGeom prst="straightConnector1">
            <a:avLst/>
          </a:prstGeom>
          <a:ln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DBC382E-CB49-3495-B90F-679F954B1393}"/>
              </a:ext>
            </a:extLst>
          </p:cNvPr>
          <p:cNvSpPr txBox="1"/>
          <p:nvPr/>
        </p:nvSpPr>
        <p:spPr>
          <a:xfrm>
            <a:off x="763928" y="1774447"/>
            <a:ext cx="12225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메모리 사용량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(MB)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DD017-4B74-80CB-8842-B58EEB862647}"/>
              </a:ext>
            </a:extLst>
          </p:cNvPr>
          <p:cNvSpPr txBox="1"/>
          <p:nvPr/>
        </p:nvSpPr>
        <p:spPr>
          <a:xfrm>
            <a:off x="6184397" y="1728147"/>
            <a:ext cx="12225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CPU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점유율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(%)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A74D22B-B64B-D352-95AC-5557E1A84231}"/>
              </a:ext>
            </a:extLst>
          </p:cNvPr>
          <p:cNvCxnSpPr>
            <a:cxnSpLocks/>
          </p:cNvCxnSpPr>
          <p:nvPr/>
        </p:nvCxnSpPr>
        <p:spPr>
          <a:xfrm flipV="1">
            <a:off x="7182453" y="1814400"/>
            <a:ext cx="0" cy="2384385"/>
          </a:xfrm>
          <a:prstGeom prst="straightConnector1">
            <a:avLst/>
          </a:prstGeom>
          <a:ln>
            <a:solidFill>
              <a:srgbClr val="D9D9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8EF5D8A-923D-B07A-EAC8-A90E0E7C8EC7}"/>
              </a:ext>
            </a:extLst>
          </p:cNvPr>
          <p:cNvSpPr txBox="1"/>
          <p:nvPr/>
        </p:nvSpPr>
        <p:spPr>
          <a:xfrm>
            <a:off x="3000171" y="1033591"/>
            <a:ext cx="723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  <a:latin typeface="+mn-ea"/>
                <a:cs typeface="함초롬돋움" panose="020B0604000101010101" pitchFamily="50" charset="-127"/>
              </a:rPr>
              <a:t>BLAKE3, </a:t>
            </a:r>
            <a:r>
              <a:rPr lang="ko-KR" altLang="en-US" b="1" dirty="0">
                <a:solidFill>
                  <a:srgbClr val="0000FF"/>
                </a:solidFill>
                <a:latin typeface="+mn-ea"/>
                <a:cs typeface="함초롬돋움" panose="020B0604000101010101" pitchFamily="50" charset="-127"/>
              </a:rPr>
              <a:t>연산자원과 메모리가 제한된 임베디드 환경에서 적합</a:t>
            </a:r>
            <a:endParaRPr lang="ko-KR" altLang="en-US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218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F2F1-5543-33B2-6452-71549FC0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69426-A571-8D99-FD3D-6AF046CF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결론 및 향후 연구</a:t>
            </a:r>
            <a:endParaRPr kumimoji="1" lang="ko-Kore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353DBE-7594-62A5-5B79-0FB156C4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/>
              <a:t>12</a:t>
            </a:fld>
            <a:endParaRPr lang="ko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BDFB5F4-647A-C85D-A3B2-3513B1A9A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507" y="1591663"/>
            <a:ext cx="11279999" cy="1369725"/>
          </a:xfrm>
        </p:spPr>
        <p:txBody>
          <a:bodyPr>
            <a:norm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altLang="ko-KR" sz="17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ko-KR" altLang="en-US" sz="1700" b="1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해싱</a:t>
            </a:r>
            <a:r>
              <a:rPr lang="ko-KR" altLang="en-US" sz="17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소요 시간</a:t>
            </a:r>
            <a:endParaRPr lang="en-US" altLang="ko-KR" sz="17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 - </a:t>
            </a:r>
            <a:r>
              <a:rPr lang="ko-KR" altLang="en-US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모든 파일 크기에서 </a:t>
            </a:r>
            <a:r>
              <a:rPr lang="en-US" altLang="ko-KR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BLAKE3 </a:t>
            </a:r>
            <a:r>
              <a:rPr lang="ko-KR" altLang="en-US" sz="15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가장 빠른 처리 시간 기록</a:t>
            </a:r>
            <a:endParaRPr lang="en-US" altLang="ko-KR" sz="1500" b="1" dirty="0">
              <a:solidFill>
                <a:srgbClr val="0000FF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0" indent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 - </a:t>
            </a:r>
            <a:r>
              <a:rPr lang="ko-KR" altLang="en-US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중</a:t>
            </a:r>
            <a:r>
              <a:rPr lang="en-US" altLang="ko-KR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~</a:t>
            </a:r>
            <a:r>
              <a:rPr lang="ko-KR" altLang="en-US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대형 파일 간에서 </a:t>
            </a:r>
            <a:r>
              <a:rPr lang="ko-KR" altLang="en-US" sz="1500" dirty="0" err="1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청크</a:t>
            </a:r>
            <a:r>
              <a:rPr lang="ko-KR" altLang="en-US" sz="15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단위 병렬처리로 시간이 효과적으로 감소됨</a:t>
            </a:r>
            <a:endParaRPr lang="en-US" altLang="ko-KR" sz="15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  <a:p>
            <a:pPr marL="266700" lvl="1" indent="0">
              <a:spcBef>
                <a:spcPts val="100"/>
              </a:spcBef>
              <a:spcAft>
                <a:spcPts val="100"/>
              </a:spcAft>
              <a:buNone/>
            </a:pPr>
            <a:endParaRPr lang="en-US" altLang="ko-KR" sz="18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D92B50-D600-2262-91B9-4D8F193BF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17931C4-9A83-1091-0562-555AE9E36AAD}"/>
              </a:ext>
            </a:extLst>
          </p:cNvPr>
          <p:cNvSpPr txBox="1">
            <a:spLocks/>
          </p:cNvSpPr>
          <p:nvPr/>
        </p:nvSpPr>
        <p:spPr>
          <a:xfrm>
            <a:off x="724647" y="925767"/>
            <a:ext cx="9307627" cy="725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lvl="1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리소스가 제한된 자동차 임베디드 환경에서 </a:t>
            </a:r>
            <a:r>
              <a:rPr lang="en-US" altLang="ko-KR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BLAKE3 </a:t>
            </a:r>
            <a:r>
              <a:rPr lang="ko-KR" altLang="en-US" sz="1800" b="1" dirty="0">
                <a:solidFill>
                  <a:srgbClr val="0000FF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성능이 효율적일 </a:t>
            </a:r>
            <a:r>
              <a:rPr lang="ko-KR" altLang="en-US" sz="18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것이라 기대 </a:t>
            </a:r>
            <a:endParaRPr lang="en-US" altLang="ko-KR" sz="1800" b="1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EE60158-B0DF-D356-3C96-8F8AE885F6AC}"/>
              </a:ext>
            </a:extLst>
          </p:cNvPr>
          <p:cNvSpPr txBox="1">
            <a:spLocks/>
          </p:cNvSpPr>
          <p:nvPr/>
        </p:nvSpPr>
        <p:spPr>
          <a:xfrm>
            <a:off x="808507" y="2876329"/>
            <a:ext cx="11279999" cy="1471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altLang="en-US" sz="17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메모리 사용량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- </a:t>
            </a:r>
            <a:r>
              <a:rPr lang="ko-KR" alt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기존 해시 함수 대비 평균 </a:t>
            </a:r>
            <a:r>
              <a:rPr lang="en-US" altLang="ko-KR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1.33MB </a:t>
            </a:r>
            <a:r>
              <a:rPr lang="ko-KR" alt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낮은 메모리 사용량 기록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ko-KR" alt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- </a:t>
            </a:r>
            <a:r>
              <a:rPr lang="ko-KR" alt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제한된 메모리를 가진 임베디드 환경에 적합한 알고리즘</a:t>
            </a:r>
          </a:p>
          <a:p>
            <a:pPr marL="266700" lvl="1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endParaRPr lang="ko-KR" altLang="en-US" sz="18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ahoma" panose="020B0604030504040204" pitchFamily="34" charset="0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52146676-79D3-7D75-9A21-14B13D978D73}"/>
              </a:ext>
            </a:extLst>
          </p:cNvPr>
          <p:cNvSpPr txBox="1">
            <a:spLocks/>
          </p:cNvSpPr>
          <p:nvPr/>
        </p:nvSpPr>
        <p:spPr>
          <a:xfrm>
            <a:off x="808506" y="4216049"/>
            <a:ext cx="11279999" cy="974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ko-KR" altLang="en-US" sz="2400" b="0" kern="1200" spc="0" baseline="0" dirty="0" smtClean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990600" algn="l"/>
              </a:tabLst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defTabSz="914400" rtl="0" eaLnBrk="1" latin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kern="1200" spc="0" baseline="0">
                <a:solidFill>
                  <a:srgbClr val="001F9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ko-KR" altLang="en-US" sz="1700" b="1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향후 연구</a:t>
            </a:r>
          </a:p>
          <a:p>
            <a: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</a:pPr>
            <a:r>
              <a:rPr lang="ko-KR" altLang="en-US" sz="13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  </a:t>
            </a:r>
            <a:r>
              <a:rPr lang="ko-KR" alt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- </a:t>
            </a:r>
            <a:r>
              <a:rPr lang="ko-KR" alt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실제 차량에서의 전력 소비 측정 및 멀티 스레드 환경에서의 병렬 처리 효율성 비교 </a:t>
            </a:r>
          </a:p>
        </p:txBody>
      </p:sp>
    </p:spTree>
    <p:extLst>
      <p:ext uri="{BB962C8B-B14F-4D97-AF65-F5344CB8AC3E}">
        <p14:creationId xmlns:p14="http://schemas.microsoft.com/office/powerpoint/2010/main" val="261490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40F4-152A-5BA7-B521-251E26C5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FF7A31D-651B-71BF-1F35-738942328060}"/>
              </a:ext>
            </a:extLst>
          </p:cNvPr>
          <p:cNvCxnSpPr/>
          <p:nvPr/>
        </p:nvCxnSpPr>
        <p:spPr>
          <a:xfrm>
            <a:off x="552450" y="565150"/>
            <a:ext cx="11087100" cy="0"/>
          </a:xfrm>
          <a:prstGeom prst="line">
            <a:avLst/>
          </a:prstGeom>
          <a:noFill/>
          <a:ln w="31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248C2930-97F5-5712-0187-E5A322449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BCBA84-A3EC-E8E2-FD36-EEB54068D6E1}"/>
              </a:ext>
            </a:extLst>
          </p:cNvPr>
          <p:cNvSpPr txBox="1"/>
          <p:nvPr/>
        </p:nvSpPr>
        <p:spPr>
          <a:xfrm>
            <a:off x="3409950" y="1874520"/>
            <a:ext cx="5372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solidFill>
                  <a:srgbClr val="001F99"/>
                </a:solidFill>
              </a:rPr>
              <a:t>감사합니다</a:t>
            </a:r>
            <a:endParaRPr lang="en-US" altLang="ko-KR" sz="4800" b="1" dirty="0">
              <a:solidFill>
                <a:srgbClr val="001F99"/>
              </a:solidFill>
            </a:endParaRPr>
          </a:p>
          <a:p>
            <a:pPr algn="ctr"/>
            <a:endParaRPr lang="en-US" altLang="ko-KR" sz="4800" dirty="0">
              <a:solidFill>
                <a:srgbClr val="001F99"/>
              </a:solidFill>
            </a:endParaRPr>
          </a:p>
          <a:p>
            <a:pPr algn="ctr"/>
            <a:r>
              <a:rPr lang="en-US" altLang="ko-KR" sz="4800" dirty="0">
                <a:solidFill>
                  <a:srgbClr val="001F99"/>
                </a:solidFill>
              </a:rPr>
              <a:t>Q&amp;A</a:t>
            </a:r>
            <a:endParaRPr lang="ko-KR" altLang="en-US" sz="4800" dirty="0">
              <a:solidFill>
                <a:srgbClr val="001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399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95508D96-27E5-406D-96C5-0E299B2F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Seunghyun Park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49D3C7-DA52-FEC0-39C1-335E5FE9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287612-06BC-158D-AA29-E7C07B6A62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477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28366-EBA5-8351-8AA7-7CF7E29B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161CD-B642-20C5-5719-9BAF7DE5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Appendix - 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메모리 측정</a:t>
            </a:r>
            <a:endParaRPr kumimoji="1" lang="ko-Kore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C350FC-859E-C1EE-0929-305D57A8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/>
              <a:t>15</a:t>
            </a:fld>
            <a:endParaRPr lang="ko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9F430E2-88AE-6B58-B7B6-6389EC14E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98" y="1325462"/>
            <a:ext cx="11279999" cy="73660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ko-KR" altLang="en-US" sz="1300" dirty="0">
                <a:solidFill>
                  <a:schemeClr val="tx1"/>
                </a:solidFill>
                <a:latin typeface="+mj-ea"/>
                <a:ea typeface="+mj-ea"/>
              </a:rPr>
              <a:t>메모리 사용량 </a:t>
            </a:r>
            <a:r>
              <a:rPr lang="en-US" altLang="ko-KR" sz="1300" dirty="0">
                <a:solidFill>
                  <a:schemeClr val="tx1"/>
                </a:solidFill>
                <a:latin typeface="+mj-ea"/>
                <a:ea typeface="+mj-ea"/>
              </a:rPr>
              <a:t>= </a:t>
            </a:r>
            <a:r>
              <a:rPr lang="ko-KR" altLang="en-US" sz="1300" dirty="0">
                <a:solidFill>
                  <a:schemeClr val="tx1"/>
                </a:solidFill>
                <a:latin typeface="+mj-ea"/>
                <a:ea typeface="+mj-ea"/>
              </a:rPr>
              <a:t>라이브러리 </a:t>
            </a:r>
            <a:r>
              <a:rPr lang="en-US" altLang="ko-KR" sz="1300" dirty="0">
                <a:solidFill>
                  <a:schemeClr val="tx1"/>
                </a:solidFill>
                <a:latin typeface="+mj-ea"/>
                <a:ea typeface="+mj-ea"/>
              </a:rPr>
              <a:t>+ </a:t>
            </a:r>
            <a:r>
              <a:rPr lang="ko-KR" altLang="en-US" sz="1300" b="1" dirty="0">
                <a:solidFill>
                  <a:srgbClr val="0000FF"/>
                </a:solidFill>
                <a:latin typeface="+mj-ea"/>
                <a:ea typeface="+mj-ea"/>
              </a:rPr>
              <a:t>컨텍스트 크기 </a:t>
            </a:r>
            <a:r>
              <a:rPr lang="en-US" altLang="ko-KR" sz="1300" dirty="0">
                <a:solidFill>
                  <a:schemeClr val="tx1"/>
                </a:solidFill>
                <a:latin typeface="+mj-ea"/>
                <a:ea typeface="+mj-ea"/>
              </a:rPr>
              <a:t>+ </a:t>
            </a:r>
            <a:r>
              <a:rPr lang="ko-KR" altLang="en-US" sz="1300" dirty="0">
                <a:solidFill>
                  <a:schemeClr val="tx1"/>
                </a:solidFill>
                <a:latin typeface="+mj-ea"/>
                <a:ea typeface="+mj-ea"/>
              </a:rPr>
              <a:t>런타임 환경</a:t>
            </a:r>
            <a:endParaRPr lang="en-US" altLang="ko-KR" sz="130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ko-KR" altLang="en-US" sz="1300" dirty="0">
                <a:solidFill>
                  <a:schemeClr val="tx1"/>
                </a:solidFill>
                <a:latin typeface="+mj-ea"/>
                <a:ea typeface="+mj-ea"/>
              </a:rPr>
              <a:t>멀티 스레드 환경</a:t>
            </a:r>
            <a:r>
              <a:rPr lang="en-US" altLang="ko-KR" sz="1300" dirty="0">
                <a:solidFill>
                  <a:schemeClr val="tx1"/>
                </a:solidFill>
                <a:latin typeface="+mj-ea"/>
                <a:ea typeface="+mj-ea"/>
              </a:rPr>
              <a:t>,</a:t>
            </a:r>
            <a:r>
              <a:rPr lang="ko-KR" altLang="en-US" sz="13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300" dirty="0">
                <a:solidFill>
                  <a:schemeClr val="tx1"/>
                </a:solidFill>
                <a:latin typeface="+mj-ea"/>
                <a:ea typeface="+mj-ea"/>
              </a:rPr>
              <a:t>BLAKE3</a:t>
            </a:r>
            <a:r>
              <a:rPr lang="ko-KR" altLang="en-US" sz="1300" dirty="0">
                <a:solidFill>
                  <a:schemeClr val="tx1"/>
                </a:solidFill>
                <a:latin typeface="+mj-ea"/>
                <a:ea typeface="+mj-ea"/>
              </a:rPr>
              <a:t>의 컨텍스트 개수 증가로 인한 </a:t>
            </a:r>
            <a:r>
              <a:rPr lang="ko-KR" altLang="en-US" sz="1300" dirty="0">
                <a:solidFill>
                  <a:srgbClr val="0000FF"/>
                </a:solidFill>
                <a:latin typeface="+mj-ea"/>
                <a:ea typeface="+mj-ea"/>
              </a:rPr>
              <a:t>메모리 사용량 증가 예상</a:t>
            </a:r>
            <a:endParaRPr lang="en-US" altLang="ko-KR" sz="1300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2D94A80-3E3E-6E87-9EDB-383BBFFF6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5122599-5EE3-E2FB-F536-D15FC2F55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30582"/>
              </p:ext>
            </p:extLst>
          </p:nvPr>
        </p:nvGraphicFramePr>
        <p:xfrm>
          <a:off x="754578" y="3197275"/>
          <a:ext cx="96024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582">
                  <a:extLst>
                    <a:ext uri="{9D8B030D-6E8A-4147-A177-3AD203B41FA5}">
                      <a16:colId xmlns:a16="http://schemas.microsoft.com/office/drawing/2014/main" val="2558177688"/>
                    </a:ext>
                  </a:extLst>
                </a:gridCol>
                <a:gridCol w="2087705">
                  <a:extLst>
                    <a:ext uri="{9D8B030D-6E8A-4147-A177-3AD203B41FA5}">
                      <a16:colId xmlns:a16="http://schemas.microsoft.com/office/drawing/2014/main" val="3976263050"/>
                    </a:ext>
                  </a:extLst>
                </a:gridCol>
                <a:gridCol w="2087705">
                  <a:extLst>
                    <a:ext uri="{9D8B030D-6E8A-4147-A177-3AD203B41FA5}">
                      <a16:colId xmlns:a16="http://schemas.microsoft.com/office/drawing/2014/main" val="3445848994"/>
                    </a:ext>
                  </a:extLst>
                </a:gridCol>
                <a:gridCol w="2087705">
                  <a:extLst>
                    <a:ext uri="{9D8B030D-6E8A-4147-A177-3AD203B41FA5}">
                      <a16:colId xmlns:a16="http://schemas.microsoft.com/office/drawing/2014/main" val="3593434880"/>
                    </a:ext>
                  </a:extLst>
                </a:gridCol>
                <a:gridCol w="2087705">
                  <a:extLst>
                    <a:ext uri="{9D8B030D-6E8A-4147-A177-3AD203B41FA5}">
                      <a16:colId xmlns:a16="http://schemas.microsoft.com/office/drawing/2014/main" val="608184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알고리즘</a:t>
                      </a:r>
                    </a:p>
                  </a:txBody>
                  <a:tcPr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컨텍스트 크기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블록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크기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구조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출력 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469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SHA-256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112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64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Merkle-</a:t>
                      </a:r>
                      <a:r>
                        <a:rPr lang="en-US" altLang="ko-KR" dirty="0" err="1"/>
                        <a:t>Damgard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256 bit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46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SHA3-256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400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136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Sponge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256 bit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66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BLAKE2S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120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64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HAIFA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256 bit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905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BLAKE2B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216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128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HAIFA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512 bit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5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BLAKE3</a:t>
                      </a:r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1912 byte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1024 byte(chunk)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Merkle Tree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256 bit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646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1972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F344-89EA-00BA-A23E-5FD846FC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46B1C-E0D4-5362-C63A-F66981F2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Appendix - 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메모리 사용량</a:t>
            </a:r>
            <a:endParaRPr kumimoji="1" lang="ko-Kore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87B2ED-BED6-5519-603B-3284F312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/>
              <a:t>16</a:t>
            </a:fld>
            <a:endParaRPr lang="ko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B7B67841-5A0E-2343-D149-B3382295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98" y="1325461"/>
            <a:ext cx="11279999" cy="165721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endParaRPr lang="ko-KR" altLang="en-US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FE7FD1-9504-550B-997E-6DBD11C6E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graphicFrame>
        <p:nvGraphicFramePr>
          <p:cNvPr id="6" name="내용 개체 틀 10">
            <a:extLst>
              <a:ext uri="{FF2B5EF4-FFF2-40B4-BE49-F238E27FC236}">
                <a16:creationId xmlns:a16="http://schemas.microsoft.com/office/drawing/2014/main" id="{1E71BA26-CF25-AD76-6DA0-2AB6367EB650}"/>
              </a:ext>
            </a:extLst>
          </p:cNvPr>
          <p:cNvGraphicFramePr>
            <a:graphicFrameLocks noGrp="1"/>
          </p:cNvGraphicFramePr>
          <p:nvPr/>
        </p:nvGraphicFramePr>
        <p:xfrm>
          <a:off x="549712" y="1170943"/>
          <a:ext cx="11092576" cy="4516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5136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602F-6B8F-1DBD-A3CE-323E8789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56851-A6F8-7D97-11CD-21761489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Appendix – CPU 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점유율</a:t>
            </a:r>
            <a:endParaRPr kumimoji="1" lang="ko-Kore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B8BA14-D021-678C-172E-09D47285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/>
              <a:t>17</a:t>
            </a:fld>
            <a:endParaRPr lang="ko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10B6F7E-E463-202D-9474-F55D1F603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98" y="1325461"/>
            <a:ext cx="11279999" cy="165721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endParaRPr lang="ko-KR" altLang="en-US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C8FEA8-57C6-7770-A8BA-5DA1C26E9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  <p:graphicFrame>
        <p:nvGraphicFramePr>
          <p:cNvPr id="4" name="내용 개체 틀 10">
            <a:extLst>
              <a:ext uri="{FF2B5EF4-FFF2-40B4-BE49-F238E27FC236}">
                <a16:creationId xmlns:a16="http://schemas.microsoft.com/office/drawing/2014/main" id="{AEBFCF92-F749-3836-F042-5F2F17A81DED}"/>
              </a:ext>
            </a:extLst>
          </p:cNvPr>
          <p:cNvGraphicFramePr>
            <a:graphicFrameLocks noGrp="1"/>
          </p:cNvGraphicFramePr>
          <p:nvPr/>
        </p:nvGraphicFramePr>
        <p:xfrm>
          <a:off x="549712" y="1170943"/>
          <a:ext cx="11092576" cy="4516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03328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75731-9F66-60A0-49BB-D646DCA45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5D1E5-61DB-A82D-93E0-C1BBDC83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Tahoma" panose="020B0604030504040204" pitchFamily="34" charset="0"/>
              </a:rPr>
              <a:t>Reference</a:t>
            </a:r>
            <a:endParaRPr kumimoji="1" lang="ko-Kore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9E2D20-FB4A-E0D4-20DF-72115D96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5EC1-5731-40A4-B8D3-4F80B272D391}" type="slidenum">
              <a:rPr lang="ko-KR" altLang="en-US" smtClean="0">
                <a:latin typeface="Malgun Gothic" panose="020B0503020000020004" pitchFamily="34" charset="-127"/>
                <a:ea typeface="+mn-ea"/>
                <a:cs typeface="Tahoma" panose="020B0604030504040204" pitchFamily="34" charset="0"/>
              </a:rPr>
              <a:pPr/>
              <a:t>18</a:t>
            </a:fld>
            <a:endParaRPr lang="ko-KR" altLang="en-US" dirty="0">
              <a:latin typeface="Malgun Gothic" panose="020B0503020000020004" pitchFamily="34" charset="-127"/>
              <a:ea typeface="+mn-ea"/>
              <a:cs typeface="Tahoma" panose="020B0604030504040204" pitchFamily="34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7C8700A-AE34-DF2A-A306-11B9DE4D1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998" y="1325461"/>
            <a:ext cx="11279999" cy="165721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altLang="ko-KR" dirty="0">
                <a:solidFill>
                  <a:srgbClr val="0000FF"/>
                </a:solidFill>
                <a:latin typeface="+mj-ea"/>
                <a:ea typeface="+mj-ea"/>
              </a:rPr>
              <a:t>O’Connor, J., </a:t>
            </a:r>
            <a:r>
              <a:rPr lang="en-US" altLang="ko-KR" dirty="0" err="1">
                <a:solidFill>
                  <a:srgbClr val="0000FF"/>
                </a:solidFill>
                <a:latin typeface="+mj-ea"/>
                <a:ea typeface="+mj-ea"/>
              </a:rPr>
              <a:t>Aumasson</a:t>
            </a:r>
            <a:r>
              <a:rPr lang="en-US" altLang="ko-KR" dirty="0">
                <a:solidFill>
                  <a:srgbClr val="0000FF"/>
                </a:solidFill>
                <a:latin typeface="+mj-ea"/>
                <a:ea typeface="+mj-ea"/>
              </a:rPr>
              <a:t>, J.-P., Neves, S., &amp; Wilcox-O’Hearn, Z. (2020). BLAKE3: One function, fast everywhere [White paper]. Retrieved from https://github.com/BLAKE3-team/BLAKE3-specs/blob/master/blake3.pdf</a:t>
            </a:r>
          </a:p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altLang="ko-KR" dirty="0">
              <a:solidFill>
                <a:srgbClr val="0000FF"/>
              </a:solidFill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altLang="ko-KR" dirty="0">
              <a:solidFill>
                <a:srgbClr val="0000FF"/>
              </a:solidFill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US" altLang="ko-KR" dirty="0">
              <a:solidFill>
                <a:srgbClr val="0000FF"/>
              </a:solidFill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ko-KR" altLang="en-US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413C013-331F-9EC2-DBB1-9DA71C60B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88" y="6327297"/>
            <a:ext cx="1086999" cy="38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88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24060</TotalTime>
  <Words>1508</Words>
  <Application>Microsoft Macintosh PowerPoint</Application>
  <PresentationFormat>와이드스크린</PresentationFormat>
  <Paragraphs>324</Paragraphs>
  <Slides>18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맑은 고딕</vt:lpstr>
      <vt:lpstr>Arial</vt:lpstr>
      <vt:lpstr>Office 테마</vt:lpstr>
      <vt:lpstr>1_Office 테마</vt:lpstr>
      <vt:lpstr>자동차 ECU 환경에서의 소프트웨어 업데이트를 위한 해시 함수 성능 평가</vt:lpstr>
      <vt:lpstr>PowerPoint 프레젠테이션</vt:lpstr>
      <vt:lpstr>연구 배경</vt:lpstr>
      <vt:lpstr>BLAKE3 – 구조적 특성 (1) Parallel Processing</vt:lpstr>
      <vt:lpstr>BLAKE3 – 구조적 특성 (2) Merkle Tree</vt:lpstr>
      <vt:lpstr>SIMD</vt:lpstr>
      <vt:lpstr>BLAKE3 – 구조적 특성 (3) ARM 환경 맞춤 설계</vt:lpstr>
      <vt:lpstr>연구 방법</vt:lpstr>
      <vt:lpstr>실험 결과 – 해싱 시간</vt:lpstr>
      <vt:lpstr>실험 결과 – 해싱 시간(벡터연산) </vt:lpstr>
      <vt:lpstr>실험 결과 – 메모리 사용량 및 CPU 점유율</vt:lpstr>
      <vt:lpstr>결론 및 향후 연구</vt:lpstr>
      <vt:lpstr>PowerPoint 프레젠테이션</vt:lpstr>
      <vt:lpstr>PowerPoint 프레젠테이션</vt:lpstr>
      <vt:lpstr>Appendix - 메모리 측정</vt:lpstr>
      <vt:lpstr>Appendix - 메모리 사용량</vt:lpstr>
      <vt:lpstr>Appendix – CPU 점유율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Connected and Autonomous Vehicles: Research Trends and Challenges</dc:title>
  <dc:creator>박승현</dc:creator>
  <cp:lastModifiedBy>박미정</cp:lastModifiedBy>
  <cp:revision>264</cp:revision>
  <cp:lastPrinted>2024-07-31T10:18:49Z</cp:lastPrinted>
  <dcterms:created xsi:type="dcterms:W3CDTF">2023-01-27T07:44:44Z</dcterms:created>
  <dcterms:modified xsi:type="dcterms:W3CDTF">2025-05-22T14:25:31Z</dcterms:modified>
</cp:coreProperties>
</file>